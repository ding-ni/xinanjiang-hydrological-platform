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646920" cy="136337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ge-bg"/>
          <p:cNvSpPr/>
          <p:nvPr/>
        </p:nvSpPr>
        <p:spPr>
          <a:xfrm>
            <a:off x="0" y="0"/>
            <a:ext cx="9646920" cy="136337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1508760" y="128016"/>
            <a:ext cx="667512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2500" b="1" i="0">
                <a:solidFill>
                  <a:srgbClr val="073A7A"/>
                </a:solidFill>
                <a:latin typeface="Microsoft YaHei"/>
              </a:rPr>
              <a:t>新安江水文模型原理与技术路线图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2926080" y="685800"/>
            <a:ext cx="402336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1280" b="0" i="0">
                <a:solidFill>
                  <a:srgbClr val="333333"/>
                </a:solidFill>
                <a:latin typeface="Microsoft YaHei"/>
              </a:rPr>
              <a:t>以流域降雨—产流—汇流—预报为主线</a:t>
            </a:r>
          </a:p>
        </p:txBody>
      </p:sp>
      <p:sp>
        <p:nvSpPr>
          <p:cNvPr id="5" name="s1-outer"/>
          <p:cNvSpPr/>
          <p:nvPr/>
        </p:nvSpPr>
        <p:spPr>
          <a:xfrm>
            <a:off x="210312" y="1024128"/>
            <a:ext cx="9244584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E5A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1-header"/>
          <p:cNvSpPr/>
          <p:nvPr/>
        </p:nvSpPr>
        <p:spPr>
          <a:xfrm>
            <a:off x="219456" y="1033271"/>
            <a:ext cx="9226296" cy="347472"/>
          </a:xfrm>
          <a:prstGeom prst="rect">
            <a:avLst/>
          </a:prstGeom>
          <a:solidFill>
            <a:srgbClr val="EAF4FF"/>
          </a:solidFill>
          <a:ln w="8890">
            <a:solidFill>
              <a:srgbClr val="1E5A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1-badge"/>
          <p:cNvSpPr/>
          <p:nvPr/>
        </p:nvSpPr>
        <p:spPr>
          <a:xfrm>
            <a:off x="219456" y="1024128"/>
            <a:ext cx="411480" cy="347472"/>
          </a:xfrm>
          <a:prstGeom prst="rect">
            <a:avLst/>
          </a:prstGeom>
          <a:solidFill>
            <a:srgbClr val="073A7A"/>
          </a:solidFill>
          <a:ln>
            <a:solidFill>
              <a:srgbClr val="073A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1-badge-text"/>
          <p:cNvSpPr txBox="1"/>
          <p:nvPr/>
        </p:nvSpPr>
        <p:spPr>
          <a:xfrm>
            <a:off x="338328" y="1069848"/>
            <a:ext cx="164592" cy="2560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s1-header-title"/>
          <p:cNvSpPr txBox="1"/>
          <p:nvPr/>
        </p:nvSpPr>
        <p:spPr>
          <a:xfrm>
            <a:off x="640080" y="1097280"/>
            <a:ext cx="84582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1450" b="1" i="0">
                <a:solidFill>
                  <a:srgbClr val="073A7A"/>
                </a:solidFill>
                <a:latin typeface="Microsoft YaHei"/>
              </a:rPr>
              <a:t>数据基础</a:t>
            </a:r>
          </a:p>
        </p:txBody>
      </p:sp>
      <p:sp>
        <p:nvSpPr>
          <p:cNvPr id="10" name="s1-card-1-box"/>
          <p:cNvSpPr/>
          <p:nvPr/>
        </p:nvSpPr>
        <p:spPr>
          <a:xfrm>
            <a:off x="365760" y="1499616"/>
            <a:ext cx="1655064" cy="12527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E5AA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1-card-1-icon" descr="s1_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56816"/>
            <a:ext cx="475488" cy="411480"/>
          </a:xfrm>
          <a:prstGeom prst="rect">
            <a:avLst/>
          </a:prstGeom>
        </p:spPr>
      </p:pic>
      <p:sp>
        <p:nvSpPr>
          <p:cNvPr id="12" name="s1-card-1-title"/>
          <p:cNvSpPr txBox="1"/>
          <p:nvPr/>
        </p:nvSpPr>
        <p:spPr>
          <a:xfrm>
            <a:off x="548640" y="1609344"/>
            <a:ext cx="1380744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1150" b="1" i="0">
                <a:solidFill>
                  <a:srgbClr val="111111"/>
                </a:solidFill>
                <a:latin typeface="Microsoft YaHei"/>
              </a:rPr>
              <a:t>降雨数据</a:t>
            </a:r>
          </a:p>
        </p:txBody>
      </p:sp>
      <p:sp>
        <p:nvSpPr>
          <p:cNvPr id="13" name="s1-card-1-body"/>
          <p:cNvSpPr txBox="1"/>
          <p:nvPr/>
        </p:nvSpPr>
        <p:spPr>
          <a:xfrm>
            <a:off x="987552" y="1956816"/>
            <a:ext cx="905256" cy="7223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19" b="0" i="0">
                <a:solidFill>
                  <a:srgbClr val="111111"/>
                </a:solidFill>
                <a:latin typeface="Microsoft YaHei"/>
              </a:rPr>
              <a:t>雨量站、</a:t>
            </a:r>
          </a:p>
          <a:p>
            <a:pPr algn="ctr"/>
            <a:r>
              <a:rPr sz="919" b="0" i="0">
                <a:solidFill>
                  <a:srgbClr val="111111"/>
                </a:solidFill>
                <a:latin typeface="Microsoft YaHei"/>
              </a:rPr>
              <a:t>面雨量、</a:t>
            </a:r>
          </a:p>
          <a:p>
            <a:pPr algn="ctr"/>
            <a:r>
              <a:rPr sz="919" b="0" i="0">
                <a:solidFill>
                  <a:srgbClr val="111111"/>
                </a:solidFill>
                <a:latin typeface="Microsoft YaHei"/>
              </a:rPr>
              <a:t>格点降雨</a:t>
            </a:r>
          </a:p>
        </p:txBody>
      </p:sp>
      <p:cxnSp>
        <p:nvCxnSpPr>
          <p:cNvPr id="14" name="s1-card-1-down"/>
          <p:cNvCxnSpPr/>
          <p:nvPr/>
        </p:nvCxnSpPr>
        <p:spPr>
          <a:xfrm>
            <a:off x="1193292" y="2752344"/>
            <a:ext cx="0" cy="173736"/>
          </a:xfrm>
          <a:prstGeom prst="line">
            <a:avLst/>
          </a:prstGeom>
          <a:ln w="10160">
            <a:solidFill>
              <a:srgbClr val="333333"/>
            </a:solidFill>
          </a:ln>
        </p:spPr>
      </p:cxnSp>
      <p:sp>
        <p:nvSpPr>
          <p:cNvPr id="15" name="s1-card-2-box"/>
          <p:cNvSpPr/>
          <p:nvPr/>
        </p:nvSpPr>
        <p:spPr>
          <a:xfrm>
            <a:off x="2176272" y="1499616"/>
            <a:ext cx="1655064" cy="12527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E5AA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1-card-2-icon" descr="s1_ev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9152" y="1956816"/>
            <a:ext cx="475488" cy="411480"/>
          </a:xfrm>
          <a:prstGeom prst="rect">
            <a:avLst/>
          </a:prstGeom>
        </p:spPr>
      </p:pic>
      <p:sp>
        <p:nvSpPr>
          <p:cNvPr id="17" name="s1-card-2-title"/>
          <p:cNvSpPr txBox="1"/>
          <p:nvPr/>
        </p:nvSpPr>
        <p:spPr>
          <a:xfrm>
            <a:off x="2359152" y="1609344"/>
            <a:ext cx="1380744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1150" b="1" i="0">
                <a:solidFill>
                  <a:srgbClr val="111111"/>
                </a:solidFill>
                <a:latin typeface="Microsoft YaHei"/>
              </a:rPr>
              <a:t>蒸发数据</a:t>
            </a:r>
          </a:p>
        </p:txBody>
      </p:sp>
      <p:sp>
        <p:nvSpPr>
          <p:cNvPr id="18" name="s1-card-2-body"/>
          <p:cNvSpPr txBox="1"/>
          <p:nvPr/>
        </p:nvSpPr>
        <p:spPr>
          <a:xfrm>
            <a:off x="2798064" y="1956816"/>
            <a:ext cx="905256" cy="7223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19" b="0" i="0">
                <a:solidFill>
                  <a:srgbClr val="111111"/>
                </a:solidFill>
                <a:latin typeface="Microsoft YaHei"/>
              </a:rPr>
              <a:t>气象观测、</a:t>
            </a:r>
          </a:p>
          <a:p>
            <a:pPr algn="ctr"/>
            <a:r>
              <a:rPr sz="919" b="0" i="0">
                <a:solidFill>
                  <a:srgbClr val="111111"/>
                </a:solidFill>
                <a:latin typeface="Microsoft YaHei"/>
              </a:rPr>
              <a:t>蒸发皿/</a:t>
            </a:r>
          </a:p>
          <a:p>
            <a:pPr algn="ctr"/>
            <a:r>
              <a:rPr sz="919" b="0" i="0">
                <a:solidFill>
                  <a:srgbClr val="111111"/>
                </a:solidFill>
                <a:latin typeface="Microsoft YaHei"/>
              </a:rPr>
              <a:t>潜在蒸散</a:t>
            </a:r>
          </a:p>
        </p:txBody>
      </p:sp>
      <p:cxnSp>
        <p:nvCxnSpPr>
          <p:cNvPr id="19" name="s1-card-2-down"/>
          <p:cNvCxnSpPr/>
          <p:nvPr/>
        </p:nvCxnSpPr>
        <p:spPr>
          <a:xfrm>
            <a:off x="3003804" y="2752344"/>
            <a:ext cx="0" cy="173736"/>
          </a:xfrm>
          <a:prstGeom prst="line">
            <a:avLst/>
          </a:prstGeom>
          <a:ln w="10160">
            <a:solidFill>
              <a:srgbClr val="333333"/>
            </a:solidFill>
          </a:ln>
        </p:spPr>
      </p:cxnSp>
      <p:sp>
        <p:nvSpPr>
          <p:cNvPr id="20" name="s1-card-3-box"/>
          <p:cNvSpPr/>
          <p:nvPr/>
        </p:nvSpPr>
        <p:spPr>
          <a:xfrm>
            <a:off x="3986784" y="1499616"/>
            <a:ext cx="1655064" cy="12527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E5AA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1-card-3-icon" descr="s1_ter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9663" y="1956816"/>
            <a:ext cx="475488" cy="411480"/>
          </a:xfrm>
          <a:prstGeom prst="rect">
            <a:avLst/>
          </a:prstGeom>
        </p:spPr>
      </p:pic>
      <p:sp>
        <p:nvSpPr>
          <p:cNvPr id="22" name="s1-card-3-title"/>
          <p:cNvSpPr txBox="1"/>
          <p:nvPr/>
        </p:nvSpPr>
        <p:spPr>
          <a:xfrm>
            <a:off x="4169663" y="1609344"/>
            <a:ext cx="1380744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1150" b="1" i="0">
                <a:solidFill>
                  <a:srgbClr val="111111"/>
                </a:solidFill>
                <a:latin typeface="Microsoft YaHei"/>
              </a:rPr>
              <a:t>下垫面信息</a:t>
            </a:r>
          </a:p>
        </p:txBody>
      </p:sp>
      <p:sp>
        <p:nvSpPr>
          <p:cNvPr id="23" name="s1-card-3-body"/>
          <p:cNvSpPr txBox="1"/>
          <p:nvPr/>
        </p:nvSpPr>
        <p:spPr>
          <a:xfrm>
            <a:off x="4608576" y="1956816"/>
            <a:ext cx="905256" cy="7223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19" b="0" i="0">
                <a:solidFill>
                  <a:srgbClr val="111111"/>
                </a:solidFill>
                <a:latin typeface="Microsoft YaHei"/>
              </a:rPr>
              <a:t>DEM、</a:t>
            </a:r>
          </a:p>
          <a:p>
            <a:pPr algn="ctr"/>
            <a:r>
              <a:rPr sz="919" b="0" i="0">
                <a:solidFill>
                  <a:srgbClr val="111111"/>
                </a:solidFill>
                <a:latin typeface="Microsoft YaHei"/>
              </a:rPr>
              <a:t>土地利用、</a:t>
            </a:r>
          </a:p>
          <a:p>
            <a:pPr algn="ctr"/>
            <a:r>
              <a:rPr sz="919" b="0" i="0">
                <a:solidFill>
                  <a:srgbClr val="111111"/>
                </a:solidFill>
                <a:latin typeface="Microsoft YaHei"/>
              </a:rPr>
              <a:t>土壤类型</a:t>
            </a:r>
          </a:p>
        </p:txBody>
      </p:sp>
      <p:cxnSp>
        <p:nvCxnSpPr>
          <p:cNvPr id="24" name="s1-card-3-down"/>
          <p:cNvCxnSpPr/>
          <p:nvPr/>
        </p:nvCxnSpPr>
        <p:spPr>
          <a:xfrm>
            <a:off x="4814316" y="2752344"/>
            <a:ext cx="0" cy="173736"/>
          </a:xfrm>
          <a:prstGeom prst="line">
            <a:avLst/>
          </a:prstGeom>
          <a:ln w="10160">
            <a:solidFill>
              <a:srgbClr val="333333"/>
            </a:solidFill>
          </a:ln>
        </p:spPr>
      </p:cxnSp>
      <p:sp>
        <p:nvSpPr>
          <p:cNvPr id="25" name="s1-card-4-box"/>
          <p:cNvSpPr/>
          <p:nvPr/>
        </p:nvSpPr>
        <p:spPr>
          <a:xfrm>
            <a:off x="5788152" y="1499616"/>
            <a:ext cx="1655064" cy="12527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E5AA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s1-card-4-icon" descr="s1_hyd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1032" y="1956816"/>
            <a:ext cx="475488" cy="411480"/>
          </a:xfrm>
          <a:prstGeom prst="rect">
            <a:avLst/>
          </a:prstGeom>
        </p:spPr>
      </p:pic>
      <p:sp>
        <p:nvSpPr>
          <p:cNvPr id="27" name="s1-card-4-title"/>
          <p:cNvSpPr txBox="1"/>
          <p:nvPr/>
        </p:nvSpPr>
        <p:spPr>
          <a:xfrm>
            <a:off x="5971032" y="1609344"/>
            <a:ext cx="1380744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1150" b="1" i="0">
                <a:solidFill>
                  <a:srgbClr val="111111"/>
                </a:solidFill>
                <a:latin typeface="Microsoft YaHei"/>
              </a:rPr>
              <a:t>水文观测数据</a:t>
            </a:r>
          </a:p>
        </p:txBody>
      </p:sp>
      <p:sp>
        <p:nvSpPr>
          <p:cNvPr id="28" name="s1-card-4-body"/>
          <p:cNvSpPr txBox="1"/>
          <p:nvPr/>
        </p:nvSpPr>
        <p:spPr>
          <a:xfrm>
            <a:off x="6409944" y="1956816"/>
            <a:ext cx="905256" cy="7223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19" b="0" i="0">
                <a:solidFill>
                  <a:srgbClr val="111111"/>
                </a:solidFill>
                <a:latin typeface="Microsoft YaHei"/>
              </a:rPr>
              <a:t>水位、</a:t>
            </a:r>
          </a:p>
          <a:p>
            <a:pPr algn="ctr"/>
            <a:r>
              <a:rPr sz="919" b="0" i="0">
                <a:solidFill>
                  <a:srgbClr val="111111"/>
                </a:solidFill>
                <a:latin typeface="Microsoft YaHei"/>
              </a:rPr>
              <a:t>流量、</a:t>
            </a:r>
          </a:p>
          <a:p>
            <a:pPr algn="ctr"/>
            <a:r>
              <a:rPr sz="919" b="0" i="0">
                <a:solidFill>
                  <a:srgbClr val="111111"/>
                </a:solidFill>
                <a:latin typeface="Microsoft YaHei"/>
              </a:rPr>
              <a:t>洪水过程</a:t>
            </a:r>
          </a:p>
        </p:txBody>
      </p:sp>
      <p:cxnSp>
        <p:nvCxnSpPr>
          <p:cNvPr id="29" name="s1-card-4-down"/>
          <p:cNvCxnSpPr/>
          <p:nvPr/>
        </p:nvCxnSpPr>
        <p:spPr>
          <a:xfrm>
            <a:off x="6615684" y="2752344"/>
            <a:ext cx="0" cy="173736"/>
          </a:xfrm>
          <a:prstGeom prst="line">
            <a:avLst/>
          </a:prstGeom>
          <a:ln w="10160">
            <a:solidFill>
              <a:srgbClr val="333333"/>
            </a:solidFill>
          </a:ln>
        </p:spPr>
      </p:cxnSp>
      <p:sp>
        <p:nvSpPr>
          <p:cNvPr id="30" name="s1-card-5-box"/>
          <p:cNvSpPr/>
          <p:nvPr/>
        </p:nvSpPr>
        <p:spPr>
          <a:xfrm>
            <a:off x="7598664" y="1499616"/>
            <a:ext cx="1655064" cy="12527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E5AA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s1-card-5-icon" descr="s1_bas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1544" y="1956816"/>
            <a:ext cx="475488" cy="411480"/>
          </a:xfrm>
          <a:prstGeom prst="rect">
            <a:avLst/>
          </a:prstGeom>
        </p:spPr>
      </p:pic>
      <p:sp>
        <p:nvSpPr>
          <p:cNvPr id="32" name="s1-card-5-title"/>
          <p:cNvSpPr txBox="1"/>
          <p:nvPr/>
        </p:nvSpPr>
        <p:spPr>
          <a:xfrm>
            <a:off x="7781544" y="1609344"/>
            <a:ext cx="1380744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1150" b="1" i="0">
                <a:solidFill>
                  <a:srgbClr val="111111"/>
                </a:solidFill>
                <a:latin typeface="Microsoft YaHei"/>
              </a:rPr>
              <a:t>流域基础资料</a:t>
            </a:r>
          </a:p>
        </p:txBody>
      </p:sp>
      <p:sp>
        <p:nvSpPr>
          <p:cNvPr id="33" name="s1-card-5-body"/>
          <p:cNvSpPr txBox="1"/>
          <p:nvPr/>
        </p:nvSpPr>
        <p:spPr>
          <a:xfrm>
            <a:off x="8220456" y="1956816"/>
            <a:ext cx="905256" cy="7223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19" b="0" i="0">
                <a:solidFill>
                  <a:srgbClr val="111111"/>
                </a:solidFill>
                <a:latin typeface="Microsoft YaHei"/>
              </a:rPr>
              <a:t>河网、</a:t>
            </a:r>
          </a:p>
          <a:p>
            <a:pPr algn="ctr"/>
            <a:r>
              <a:rPr sz="919" b="0" i="0">
                <a:solidFill>
                  <a:srgbClr val="111111"/>
                </a:solidFill>
                <a:latin typeface="Microsoft YaHei"/>
              </a:rPr>
              <a:t>子流域、</a:t>
            </a:r>
          </a:p>
          <a:p>
            <a:pPr algn="ctr"/>
            <a:r>
              <a:rPr sz="919" b="0" i="0">
                <a:solidFill>
                  <a:srgbClr val="111111"/>
                </a:solidFill>
                <a:latin typeface="Microsoft YaHei"/>
              </a:rPr>
              <a:t>控制断面</a:t>
            </a:r>
          </a:p>
        </p:txBody>
      </p:sp>
      <p:cxnSp>
        <p:nvCxnSpPr>
          <p:cNvPr id="34" name="s1-card-5-down"/>
          <p:cNvCxnSpPr/>
          <p:nvPr/>
        </p:nvCxnSpPr>
        <p:spPr>
          <a:xfrm>
            <a:off x="8426196" y="2752344"/>
            <a:ext cx="0" cy="173736"/>
          </a:xfrm>
          <a:prstGeom prst="line">
            <a:avLst/>
          </a:prstGeom>
          <a:ln w="10160">
            <a:solidFill>
              <a:srgbClr val="333333"/>
            </a:solidFill>
          </a:ln>
        </p:spPr>
      </p:cxnSp>
      <p:cxnSp>
        <p:nvCxnSpPr>
          <p:cNvPr id="35" name="s1-collector"/>
          <p:cNvCxnSpPr/>
          <p:nvPr/>
        </p:nvCxnSpPr>
        <p:spPr>
          <a:xfrm>
            <a:off x="1188720" y="2926080"/>
            <a:ext cx="7333488" cy="0"/>
          </a:xfrm>
          <a:prstGeom prst="line">
            <a:avLst/>
          </a:prstGeom>
          <a:ln w="10160">
            <a:solidFill>
              <a:srgbClr val="333333"/>
            </a:solidFill>
          </a:ln>
        </p:spPr>
      </p:cxnSp>
      <p:cxnSp>
        <p:nvCxnSpPr>
          <p:cNvPr id="36" name="s1-to-s2"/>
          <p:cNvCxnSpPr/>
          <p:nvPr/>
        </p:nvCxnSpPr>
        <p:spPr>
          <a:xfrm>
            <a:off x="4809744" y="2926080"/>
            <a:ext cx="0" cy="329184"/>
          </a:xfrm>
          <a:prstGeom prst="line">
            <a:avLst/>
          </a:prstGeom>
          <a:ln w="13970">
            <a:solidFill>
              <a:srgbClr val="111111"/>
            </a:solidFill>
            <a:tailEnd type="triangle" w="sm" len="sm"/>
          </a:ln>
        </p:spPr>
      </p:cxnSp>
      <p:sp>
        <p:nvSpPr>
          <p:cNvPr id="37" name="s2-outer"/>
          <p:cNvSpPr/>
          <p:nvPr/>
        </p:nvSpPr>
        <p:spPr>
          <a:xfrm>
            <a:off x="210312" y="3264408"/>
            <a:ext cx="9244584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E5A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s2-header"/>
          <p:cNvSpPr/>
          <p:nvPr/>
        </p:nvSpPr>
        <p:spPr>
          <a:xfrm>
            <a:off x="219456" y="3273552"/>
            <a:ext cx="9226296" cy="347472"/>
          </a:xfrm>
          <a:prstGeom prst="rect">
            <a:avLst/>
          </a:prstGeom>
          <a:solidFill>
            <a:srgbClr val="EAF4FF"/>
          </a:solidFill>
          <a:ln w="8890">
            <a:solidFill>
              <a:srgbClr val="1E5A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s2-badge"/>
          <p:cNvSpPr/>
          <p:nvPr/>
        </p:nvSpPr>
        <p:spPr>
          <a:xfrm>
            <a:off x="219456" y="3264408"/>
            <a:ext cx="411480" cy="347472"/>
          </a:xfrm>
          <a:prstGeom prst="rect">
            <a:avLst/>
          </a:prstGeom>
          <a:solidFill>
            <a:srgbClr val="073A7A"/>
          </a:solidFill>
          <a:ln>
            <a:solidFill>
              <a:srgbClr val="073A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s2-badge-text"/>
          <p:cNvSpPr txBox="1"/>
          <p:nvPr/>
        </p:nvSpPr>
        <p:spPr>
          <a:xfrm>
            <a:off x="338328" y="3310128"/>
            <a:ext cx="164592" cy="2560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41" name="s2-header-title"/>
          <p:cNvSpPr txBox="1"/>
          <p:nvPr/>
        </p:nvSpPr>
        <p:spPr>
          <a:xfrm>
            <a:off x="640080" y="3337560"/>
            <a:ext cx="84582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1450" b="1" i="0">
                <a:solidFill>
                  <a:srgbClr val="073A7A"/>
                </a:solidFill>
                <a:latin typeface="Microsoft YaHei"/>
              </a:rPr>
              <a:t>数据预处理与模型准备</a:t>
            </a:r>
          </a:p>
        </p:txBody>
      </p:sp>
      <p:sp>
        <p:nvSpPr>
          <p:cNvPr id="42" name="s2-step-1"/>
          <p:cNvSpPr/>
          <p:nvPr/>
        </p:nvSpPr>
        <p:spPr>
          <a:xfrm>
            <a:off x="411480" y="3703320"/>
            <a:ext cx="1975104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E5AA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s2-step-1-icon" descr="s2_d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840480"/>
            <a:ext cx="356616" cy="356616"/>
          </a:xfrm>
          <a:prstGeom prst="rect">
            <a:avLst/>
          </a:prstGeom>
        </p:spPr>
      </p:pic>
      <p:sp>
        <p:nvSpPr>
          <p:cNvPr id="44" name="s2-step-1-label"/>
          <p:cNvSpPr txBox="1"/>
          <p:nvPr/>
        </p:nvSpPr>
        <p:spPr>
          <a:xfrm>
            <a:off x="1014984" y="3849624"/>
            <a:ext cx="1261872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50" b="0" i="0">
                <a:solidFill>
                  <a:srgbClr val="111111"/>
                </a:solidFill>
                <a:latin typeface="Microsoft YaHei"/>
              </a:rPr>
              <a:t>数据质控与缺测处理</a:t>
            </a:r>
          </a:p>
        </p:txBody>
      </p:sp>
      <p:sp>
        <p:nvSpPr>
          <p:cNvPr id="45" name="s2-step-2"/>
          <p:cNvSpPr/>
          <p:nvPr/>
        </p:nvSpPr>
        <p:spPr>
          <a:xfrm>
            <a:off x="2724912" y="3703320"/>
            <a:ext cx="1901952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E5AA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6" name="s2-step-2-icon" descr="s2_c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62072" y="3840480"/>
            <a:ext cx="356616" cy="356616"/>
          </a:xfrm>
          <a:prstGeom prst="rect">
            <a:avLst/>
          </a:prstGeom>
        </p:spPr>
      </p:pic>
      <p:sp>
        <p:nvSpPr>
          <p:cNvPr id="47" name="s2-step-2-label"/>
          <p:cNvSpPr txBox="1"/>
          <p:nvPr/>
        </p:nvSpPr>
        <p:spPr>
          <a:xfrm>
            <a:off x="3328416" y="3849624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50" b="0" i="0">
                <a:solidFill>
                  <a:srgbClr val="111111"/>
                </a:solidFill>
                <a:latin typeface="Microsoft YaHei"/>
              </a:rPr>
              <a:t>时空尺度统一</a:t>
            </a:r>
          </a:p>
        </p:txBody>
      </p:sp>
      <p:sp>
        <p:nvSpPr>
          <p:cNvPr id="48" name="s2-step-3"/>
          <p:cNvSpPr/>
          <p:nvPr/>
        </p:nvSpPr>
        <p:spPr>
          <a:xfrm>
            <a:off x="4983480" y="3703320"/>
            <a:ext cx="1901952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E5AA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9" name="s2-step-3-icon" descr="s2_basi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0640" y="3840480"/>
            <a:ext cx="356616" cy="356616"/>
          </a:xfrm>
          <a:prstGeom prst="rect">
            <a:avLst/>
          </a:prstGeom>
        </p:spPr>
      </p:pic>
      <p:sp>
        <p:nvSpPr>
          <p:cNvPr id="50" name="s2-step-3-label"/>
          <p:cNvSpPr txBox="1"/>
          <p:nvPr/>
        </p:nvSpPr>
        <p:spPr>
          <a:xfrm>
            <a:off x="5586984" y="3849624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50" b="0" i="0">
                <a:solidFill>
                  <a:srgbClr val="111111"/>
                </a:solidFill>
                <a:latin typeface="Microsoft YaHei"/>
              </a:rPr>
              <a:t>流域划分与</a:t>
            </a:r>
          </a:p>
          <a:p>
            <a:pPr algn="ctr"/>
            <a:r>
              <a:rPr sz="1050" b="0" i="0">
                <a:solidFill>
                  <a:srgbClr val="111111"/>
                </a:solidFill>
                <a:latin typeface="Microsoft YaHei"/>
              </a:rPr>
              <a:t>河网概化</a:t>
            </a:r>
          </a:p>
        </p:txBody>
      </p:sp>
      <p:sp>
        <p:nvSpPr>
          <p:cNvPr id="51" name="s2-step-4"/>
          <p:cNvSpPr/>
          <p:nvPr/>
        </p:nvSpPr>
        <p:spPr>
          <a:xfrm>
            <a:off x="7223760" y="3703320"/>
            <a:ext cx="1975104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E5AA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2" name="s2-step-4-icon" descr="s2_gea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60920" y="3840480"/>
            <a:ext cx="356616" cy="356616"/>
          </a:xfrm>
          <a:prstGeom prst="rect">
            <a:avLst/>
          </a:prstGeom>
        </p:spPr>
      </p:pic>
      <p:sp>
        <p:nvSpPr>
          <p:cNvPr id="53" name="s2-step-4-label"/>
          <p:cNvSpPr txBox="1"/>
          <p:nvPr/>
        </p:nvSpPr>
        <p:spPr>
          <a:xfrm>
            <a:off x="7827264" y="3849624"/>
            <a:ext cx="1261872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50" b="0" i="0">
                <a:solidFill>
                  <a:srgbClr val="111111"/>
                </a:solidFill>
                <a:latin typeface="Microsoft YaHei"/>
              </a:rPr>
              <a:t>参数初值与</a:t>
            </a:r>
          </a:p>
          <a:p>
            <a:pPr algn="ctr"/>
            <a:r>
              <a:rPr sz="1050" b="0" i="0">
                <a:solidFill>
                  <a:srgbClr val="111111"/>
                </a:solidFill>
                <a:latin typeface="Microsoft YaHei"/>
              </a:rPr>
              <a:t>边界条件设定</a:t>
            </a:r>
          </a:p>
        </p:txBody>
      </p:sp>
      <p:cxnSp>
        <p:nvCxnSpPr>
          <p:cNvPr id="54" name="s2-arrow-1"/>
          <p:cNvCxnSpPr/>
          <p:nvPr/>
        </p:nvCxnSpPr>
        <p:spPr>
          <a:xfrm>
            <a:off x="2386584" y="4032504"/>
            <a:ext cx="338328" cy="0"/>
          </a:xfrm>
          <a:prstGeom prst="line">
            <a:avLst/>
          </a:prstGeom>
          <a:ln w="13970">
            <a:solidFill>
              <a:srgbClr val="111111"/>
            </a:solidFill>
            <a:tailEnd type="triangle" w="sm" len="sm"/>
          </a:ln>
        </p:spPr>
      </p:cxnSp>
      <p:cxnSp>
        <p:nvCxnSpPr>
          <p:cNvPr id="55" name="s2-arrow-2"/>
          <p:cNvCxnSpPr/>
          <p:nvPr/>
        </p:nvCxnSpPr>
        <p:spPr>
          <a:xfrm>
            <a:off x="4626864" y="4032504"/>
            <a:ext cx="356616" cy="0"/>
          </a:xfrm>
          <a:prstGeom prst="line">
            <a:avLst/>
          </a:prstGeom>
          <a:ln w="13970">
            <a:solidFill>
              <a:srgbClr val="111111"/>
            </a:solidFill>
            <a:tailEnd type="triangle" w="sm" len="sm"/>
          </a:ln>
        </p:spPr>
      </p:cxnSp>
      <p:cxnSp>
        <p:nvCxnSpPr>
          <p:cNvPr id="56" name="s2-arrow-3"/>
          <p:cNvCxnSpPr/>
          <p:nvPr/>
        </p:nvCxnSpPr>
        <p:spPr>
          <a:xfrm>
            <a:off x="6885432" y="4032504"/>
            <a:ext cx="338328" cy="0"/>
          </a:xfrm>
          <a:prstGeom prst="line">
            <a:avLst/>
          </a:prstGeom>
          <a:ln w="13970">
            <a:solidFill>
              <a:srgbClr val="111111"/>
            </a:solidFill>
            <a:tailEnd type="triangle" w="sm" len="sm"/>
          </a:ln>
        </p:spPr>
      </p:cxnSp>
      <p:sp>
        <p:nvSpPr>
          <p:cNvPr id="57" name="s2-note"/>
          <p:cNvSpPr txBox="1"/>
          <p:nvPr/>
        </p:nvSpPr>
        <p:spPr>
          <a:xfrm>
            <a:off x="3419856" y="4453128"/>
            <a:ext cx="2743200" cy="19202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980" b="0" i="0">
                <a:solidFill>
                  <a:srgbClr val="111111"/>
                </a:solidFill>
                <a:latin typeface="Microsoft YaHei"/>
              </a:rPr>
              <a:t>形成模型输入序列与空间拓扑结构</a:t>
            </a:r>
          </a:p>
        </p:txBody>
      </p:sp>
      <p:cxnSp>
        <p:nvCxnSpPr>
          <p:cNvPr id="58" name="s2-to-s3"/>
          <p:cNvCxnSpPr/>
          <p:nvPr/>
        </p:nvCxnSpPr>
        <p:spPr>
          <a:xfrm>
            <a:off x="4809744" y="4727448"/>
            <a:ext cx="0" cy="173736"/>
          </a:xfrm>
          <a:prstGeom prst="line">
            <a:avLst/>
          </a:prstGeom>
          <a:ln w="13970">
            <a:solidFill>
              <a:srgbClr val="111111"/>
            </a:solidFill>
            <a:tailEnd type="triangle" w="sm" len="sm"/>
          </a:ln>
        </p:spPr>
      </p:cxnSp>
      <p:sp>
        <p:nvSpPr>
          <p:cNvPr id="59" name="s3-outer"/>
          <p:cNvSpPr/>
          <p:nvPr/>
        </p:nvSpPr>
        <p:spPr>
          <a:xfrm>
            <a:off x="210312" y="4910328"/>
            <a:ext cx="9244584" cy="29169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E5A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s3-header"/>
          <p:cNvSpPr/>
          <p:nvPr/>
        </p:nvSpPr>
        <p:spPr>
          <a:xfrm>
            <a:off x="219456" y="4919472"/>
            <a:ext cx="9226296" cy="347472"/>
          </a:xfrm>
          <a:prstGeom prst="rect">
            <a:avLst/>
          </a:prstGeom>
          <a:solidFill>
            <a:srgbClr val="EAF4FF"/>
          </a:solidFill>
          <a:ln w="8890">
            <a:solidFill>
              <a:srgbClr val="1E5A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s3-badge"/>
          <p:cNvSpPr/>
          <p:nvPr/>
        </p:nvSpPr>
        <p:spPr>
          <a:xfrm>
            <a:off x="219456" y="4910328"/>
            <a:ext cx="411480" cy="347472"/>
          </a:xfrm>
          <a:prstGeom prst="rect">
            <a:avLst/>
          </a:prstGeom>
          <a:solidFill>
            <a:srgbClr val="073A7A"/>
          </a:solidFill>
          <a:ln>
            <a:solidFill>
              <a:srgbClr val="073A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s3-badge-text"/>
          <p:cNvSpPr txBox="1"/>
          <p:nvPr/>
        </p:nvSpPr>
        <p:spPr>
          <a:xfrm>
            <a:off x="338328" y="4956048"/>
            <a:ext cx="164592" cy="2560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63" name="s3-header-title"/>
          <p:cNvSpPr txBox="1"/>
          <p:nvPr/>
        </p:nvSpPr>
        <p:spPr>
          <a:xfrm>
            <a:off x="640080" y="4983480"/>
            <a:ext cx="84582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1450" b="1" i="0">
                <a:solidFill>
                  <a:srgbClr val="073A7A"/>
                </a:solidFill>
                <a:latin typeface="Microsoft YaHei"/>
              </a:rPr>
              <a:t>新安江模型核心原理</a:t>
            </a:r>
          </a:p>
        </p:txBody>
      </p:sp>
      <p:pic>
        <p:nvPicPr>
          <p:cNvPr id="64" name="s3-rain-icon" descr="s3_rai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6071616"/>
            <a:ext cx="457200" cy="429768"/>
          </a:xfrm>
          <a:prstGeom prst="rect">
            <a:avLst/>
          </a:prstGeom>
        </p:spPr>
      </p:pic>
      <p:sp>
        <p:nvSpPr>
          <p:cNvPr id="65" name="s3-rain-label"/>
          <p:cNvSpPr txBox="1"/>
          <p:nvPr/>
        </p:nvSpPr>
        <p:spPr>
          <a:xfrm>
            <a:off x="320040" y="6620256"/>
            <a:ext cx="603504" cy="2103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950" b="0" i="0">
                <a:solidFill>
                  <a:srgbClr val="111111"/>
                </a:solidFill>
                <a:latin typeface="Microsoft YaHei"/>
              </a:rPr>
              <a:t>降雨输入</a:t>
            </a:r>
          </a:p>
        </p:txBody>
      </p:sp>
      <p:cxnSp>
        <p:nvCxnSpPr>
          <p:cNvPr id="66" name="s3-rain-arrow"/>
          <p:cNvCxnSpPr/>
          <p:nvPr/>
        </p:nvCxnSpPr>
        <p:spPr>
          <a:xfrm>
            <a:off x="722376" y="6336792"/>
            <a:ext cx="292608" cy="0"/>
          </a:xfrm>
          <a:prstGeom prst="line">
            <a:avLst/>
          </a:prstGeom>
          <a:ln w="15240">
            <a:solidFill>
              <a:srgbClr val="111111"/>
            </a:solidFill>
            <a:tailEnd type="triangle" w="sm" len="sm"/>
          </a:ln>
        </p:spPr>
      </p:cxnSp>
      <p:sp>
        <p:nvSpPr>
          <p:cNvPr id="67" name="s3-a-box"/>
          <p:cNvSpPr/>
          <p:nvPr/>
        </p:nvSpPr>
        <p:spPr>
          <a:xfrm>
            <a:off x="1024128" y="5367528"/>
            <a:ext cx="1417320" cy="19751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E5A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s3-a-title"/>
          <p:cNvSpPr txBox="1"/>
          <p:nvPr/>
        </p:nvSpPr>
        <p:spPr>
          <a:xfrm>
            <a:off x="1188720" y="5477256"/>
            <a:ext cx="1078992" cy="2103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980" b="1" i="0">
                <a:solidFill>
                  <a:srgbClr val="073A7A"/>
                </a:solidFill>
                <a:latin typeface="Microsoft YaHei"/>
              </a:rPr>
              <a:t>A. 蒸散发计算</a:t>
            </a:r>
          </a:p>
        </p:txBody>
      </p:sp>
      <p:pic>
        <p:nvPicPr>
          <p:cNvPr id="69" name="s3-a-icon" descr="s3_evap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62456" y="5833872"/>
            <a:ext cx="795528" cy="530352"/>
          </a:xfrm>
          <a:prstGeom prst="rect">
            <a:avLst/>
          </a:prstGeom>
        </p:spPr>
      </p:pic>
      <p:cxnSp>
        <p:nvCxnSpPr>
          <p:cNvPr id="70" name="s3-a-dash"/>
          <p:cNvCxnSpPr/>
          <p:nvPr/>
        </p:nvCxnSpPr>
        <p:spPr>
          <a:xfrm>
            <a:off x="1133856" y="6437376"/>
            <a:ext cx="1188720" cy="0"/>
          </a:xfrm>
          <a:prstGeom prst="line">
            <a:avLst/>
          </a:prstGeom>
          <a:ln w="10160">
            <a:solidFill>
              <a:srgbClr val="1E5AA8"/>
            </a:solidFill>
            <a:prstDash val="dash"/>
          </a:ln>
        </p:spPr>
      </p:cxnSp>
      <p:sp>
        <p:nvSpPr>
          <p:cNvPr id="71" name="s3-a-body"/>
          <p:cNvSpPr txBox="1"/>
          <p:nvPr/>
        </p:nvSpPr>
        <p:spPr>
          <a:xfrm>
            <a:off x="1344168" y="6574536"/>
            <a:ext cx="777240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9" b="0" i="0">
                <a:solidFill>
                  <a:srgbClr val="111111"/>
                </a:solidFill>
                <a:latin typeface="Microsoft YaHei"/>
              </a:rPr>
              <a:t>上层张力水</a:t>
            </a:r>
          </a:p>
          <a:p>
            <a:pPr algn="ctr"/>
            <a:r>
              <a:rPr sz="969" b="0" i="0">
                <a:solidFill>
                  <a:srgbClr val="111111"/>
                </a:solidFill>
                <a:latin typeface="Microsoft YaHei"/>
              </a:rPr>
              <a:t>下层张力水</a:t>
            </a:r>
          </a:p>
          <a:p>
            <a:pPr algn="ctr"/>
            <a:r>
              <a:rPr sz="969" b="0" i="0">
                <a:solidFill>
                  <a:srgbClr val="111111"/>
                </a:solidFill>
                <a:latin typeface="Microsoft YaHei"/>
              </a:rPr>
              <a:t>深层张力水</a:t>
            </a:r>
          </a:p>
        </p:txBody>
      </p:sp>
      <p:cxnSp>
        <p:nvCxnSpPr>
          <p:cNvPr id="72" name="s3-a-to-b"/>
          <p:cNvCxnSpPr/>
          <p:nvPr/>
        </p:nvCxnSpPr>
        <p:spPr>
          <a:xfrm>
            <a:off x="2441448" y="6336792"/>
            <a:ext cx="283464" cy="0"/>
          </a:xfrm>
          <a:prstGeom prst="line">
            <a:avLst/>
          </a:prstGeom>
          <a:ln w="13970">
            <a:solidFill>
              <a:srgbClr val="111111"/>
            </a:solidFill>
            <a:tailEnd type="triangle" w="sm" len="sm"/>
          </a:ln>
        </p:spPr>
      </p:cxnSp>
      <p:sp>
        <p:nvSpPr>
          <p:cNvPr id="73" name="s3-b-box"/>
          <p:cNvSpPr/>
          <p:nvPr/>
        </p:nvSpPr>
        <p:spPr>
          <a:xfrm>
            <a:off x="2724912" y="5367528"/>
            <a:ext cx="1463040" cy="19751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E5A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s3-b-title"/>
          <p:cNvSpPr txBox="1"/>
          <p:nvPr/>
        </p:nvSpPr>
        <p:spPr>
          <a:xfrm>
            <a:off x="2898648" y="5477256"/>
            <a:ext cx="1124712" cy="2103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980" b="1" i="0">
                <a:solidFill>
                  <a:srgbClr val="073A7A"/>
                </a:solidFill>
                <a:latin typeface="Microsoft YaHei"/>
              </a:rPr>
              <a:t>B. 蓄满产流机制</a:t>
            </a:r>
          </a:p>
        </p:txBody>
      </p:sp>
      <p:pic>
        <p:nvPicPr>
          <p:cNvPr id="75" name="s3-b-icon" descr="s3_reservoi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82112" y="5843016"/>
            <a:ext cx="576072" cy="493776"/>
          </a:xfrm>
          <a:prstGeom prst="rect">
            <a:avLst/>
          </a:prstGeom>
        </p:spPr>
      </p:pic>
      <p:cxnSp>
        <p:nvCxnSpPr>
          <p:cNvPr id="76" name="s3-b-dash"/>
          <p:cNvCxnSpPr/>
          <p:nvPr/>
        </p:nvCxnSpPr>
        <p:spPr>
          <a:xfrm>
            <a:off x="2843784" y="6437376"/>
            <a:ext cx="1225296" cy="0"/>
          </a:xfrm>
          <a:prstGeom prst="line">
            <a:avLst/>
          </a:prstGeom>
          <a:ln w="10160">
            <a:solidFill>
              <a:srgbClr val="1E5AA8"/>
            </a:solidFill>
            <a:prstDash val="dash"/>
          </a:ln>
        </p:spPr>
      </p:cxnSp>
      <p:sp>
        <p:nvSpPr>
          <p:cNvPr id="77" name="s3-b-body"/>
          <p:cNvSpPr txBox="1"/>
          <p:nvPr/>
        </p:nvSpPr>
        <p:spPr>
          <a:xfrm>
            <a:off x="2871216" y="6592824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111111"/>
                </a:solidFill>
                <a:latin typeface="Microsoft YaHei"/>
              </a:rPr>
              <a:t>流域蓄水容量曲线</a:t>
            </a:r>
          </a:p>
          <a:p>
            <a:pPr algn="ctr"/>
            <a:r>
              <a:rPr sz="900" b="0" i="0">
                <a:solidFill>
                  <a:srgbClr val="111111"/>
                </a:solidFill>
                <a:latin typeface="Microsoft YaHei"/>
              </a:rPr>
              <a:t>张力水蓄满后产流</a:t>
            </a:r>
          </a:p>
        </p:txBody>
      </p:sp>
      <p:cxnSp>
        <p:nvCxnSpPr>
          <p:cNvPr id="78" name="s3-b-to-c"/>
          <p:cNvCxnSpPr/>
          <p:nvPr/>
        </p:nvCxnSpPr>
        <p:spPr>
          <a:xfrm>
            <a:off x="4187952" y="6336792"/>
            <a:ext cx="301752" cy="0"/>
          </a:xfrm>
          <a:prstGeom prst="line">
            <a:avLst/>
          </a:prstGeom>
          <a:ln w="13970">
            <a:solidFill>
              <a:srgbClr val="111111"/>
            </a:solidFill>
            <a:tailEnd type="triangle" w="sm" len="sm"/>
          </a:ln>
        </p:spPr>
      </p:cxnSp>
      <p:sp>
        <p:nvSpPr>
          <p:cNvPr id="79" name="s3-c-box"/>
          <p:cNvSpPr/>
          <p:nvPr/>
        </p:nvSpPr>
        <p:spPr>
          <a:xfrm>
            <a:off x="4489704" y="5367528"/>
            <a:ext cx="1572768" cy="19751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E5A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s3-c-title"/>
          <p:cNvSpPr txBox="1"/>
          <p:nvPr/>
        </p:nvSpPr>
        <p:spPr>
          <a:xfrm>
            <a:off x="4572000" y="5486400"/>
            <a:ext cx="1417320" cy="19202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073A7A"/>
                </a:solidFill>
                <a:latin typeface="Microsoft YaHei"/>
              </a:rPr>
              <a:t>C. 三层土壤含水量结构</a:t>
            </a:r>
          </a:p>
        </p:txBody>
      </p:sp>
      <p:sp>
        <p:nvSpPr>
          <p:cNvPr id="81" name="s3-c-row-1"/>
          <p:cNvSpPr/>
          <p:nvPr/>
        </p:nvSpPr>
        <p:spPr>
          <a:xfrm>
            <a:off x="4617720" y="5824728"/>
            <a:ext cx="1316736" cy="448056"/>
          </a:xfrm>
          <a:prstGeom prst="rect">
            <a:avLst/>
          </a:prstGeom>
          <a:solidFill>
            <a:srgbClr val="EEF5FF"/>
          </a:solidFill>
          <a:ln w="8890">
            <a:solidFill>
              <a:srgbClr val="1E5A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s3-c-row-1-left"/>
          <p:cNvSpPr txBox="1"/>
          <p:nvPr/>
        </p:nvSpPr>
        <p:spPr>
          <a:xfrm>
            <a:off x="4846320" y="5971032"/>
            <a:ext cx="347472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880" b="0" i="0">
                <a:solidFill>
                  <a:srgbClr val="111111"/>
                </a:solidFill>
                <a:latin typeface="Microsoft YaHei"/>
              </a:rPr>
              <a:t>WU</a:t>
            </a:r>
          </a:p>
        </p:txBody>
      </p:sp>
      <p:sp>
        <p:nvSpPr>
          <p:cNvPr id="83" name="s3-c-row-1-right"/>
          <p:cNvSpPr txBox="1"/>
          <p:nvPr/>
        </p:nvSpPr>
        <p:spPr>
          <a:xfrm>
            <a:off x="5248656" y="5971032"/>
            <a:ext cx="402336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880" b="0" i="0">
                <a:solidFill>
                  <a:srgbClr val="111111"/>
                </a:solidFill>
                <a:latin typeface="Microsoft YaHei"/>
              </a:rPr>
              <a:t>上层</a:t>
            </a:r>
          </a:p>
        </p:txBody>
      </p:sp>
      <p:sp>
        <p:nvSpPr>
          <p:cNvPr id="84" name="s3-c-row-2"/>
          <p:cNvSpPr/>
          <p:nvPr/>
        </p:nvSpPr>
        <p:spPr>
          <a:xfrm>
            <a:off x="4617720" y="6272784"/>
            <a:ext cx="1316736" cy="448056"/>
          </a:xfrm>
          <a:prstGeom prst="rect">
            <a:avLst/>
          </a:prstGeom>
          <a:solidFill>
            <a:srgbClr val="DCEBFF"/>
          </a:solidFill>
          <a:ln w="8890">
            <a:solidFill>
              <a:srgbClr val="1E5A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s3-c-row-2-left"/>
          <p:cNvSpPr txBox="1"/>
          <p:nvPr/>
        </p:nvSpPr>
        <p:spPr>
          <a:xfrm>
            <a:off x="4846320" y="6419088"/>
            <a:ext cx="347472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880" b="0" i="0">
                <a:solidFill>
                  <a:srgbClr val="111111"/>
                </a:solidFill>
                <a:latin typeface="Microsoft YaHei"/>
              </a:rPr>
              <a:t>WL</a:t>
            </a:r>
          </a:p>
        </p:txBody>
      </p:sp>
      <p:sp>
        <p:nvSpPr>
          <p:cNvPr id="86" name="s3-c-row-2-right"/>
          <p:cNvSpPr txBox="1"/>
          <p:nvPr/>
        </p:nvSpPr>
        <p:spPr>
          <a:xfrm>
            <a:off x="5248656" y="6419088"/>
            <a:ext cx="402336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880" b="0" i="0">
                <a:solidFill>
                  <a:srgbClr val="111111"/>
                </a:solidFill>
                <a:latin typeface="Microsoft YaHei"/>
              </a:rPr>
              <a:t>下层</a:t>
            </a:r>
          </a:p>
        </p:txBody>
      </p:sp>
      <p:sp>
        <p:nvSpPr>
          <p:cNvPr id="87" name="s3-c-row-3"/>
          <p:cNvSpPr/>
          <p:nvPr/>
        </p:nvSpPr>
        <p:spPr>
          <a:xfrm>
            <a:off x="4617720" y="6720840"/>
            <a:ext cx="1316736" cy="448056"/>
          </a:xfrm>
          <a:prstGeom prst="rect">
            <a:avLst/>
          </a:prstGeom>
          <a:solidFill>
            <a:srgbClr val="C1D7F1"/>
          </a:solidFill>
          <a:ln w="8890">
            <a:solidFill>
              <a:srgbClr val="1E5A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s3-c-row-3-left"/>
          <p:cNvSpPr txBox="1"/>
          <p:nvPr/>
        </p:nvSpPr>
        <p:spPr>
          <a:xfrm>
            <a:off x="4846320" y="6867144"/>
            <a:ext cx="347472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880" b="0" i="0">
                <a:solidFill>
                  <a:srgbClr val="111111"/>
                </a:solidFill>
                <a:latin typeface="Microsoft YaHei"/>
              </a:rPr>
              <a:t>WD</a:t>
            </a:r>
          </a:p>
        </p:txBody>
      </p:sp>
      <p:sp>
        <p:nvSpPr>
          <p:cNvPr id="89" name="s3-c-row-3-right"/>
          <p:cNvSpPr txBox="1"/>
          <p:nvPr/>
        </p:nvSpPr>
        <p:spPr>
          <a:xfrm>
            <a:off x="5248656" y="6867144"/>
            <a:ext cx="402336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880" b="0" i="0">
                <a:solidFill>
                  <a:srgbClr val="111111"/>
                </a:solidFill>
                <a:latin typeface="Microsoft YaHei"/>
              </a:rPr>
              <a:t>深层</a:t>
            </a:r>
          </a:p>
        </p:txBody>
      </p:sp>
      <p:cxnSp>
        <p:nvCxnSpPr>
          <p:cNvPr id="90" name="s3-c-to-d"/>
          <p:cNvCxnSpPr/>
          <p:nvPr/>
        </p:nvCxnSpPr>
        <p:spPr>
          <a:xfrm>
            <a:off x="6062472" y="6336792"/>
            <a:ext cx="292608" cy="0"/>
          </a:xfrm>
          <a:prstGeom prst="line">
            <a:avLst/>
          </a:prstGeom>
          <a:ln w="13970">
            <a:solidFill>
              <a:srgbClr val="111111"/>
            </a:solidFill>
            <a:tailEnd type="triangle" w="sm" len="sm"/>
          </a:ln>
        </p:spPr>
      </p:cxnSp>
      <p:sp>
        <p:nvSpPr>
          <p:cNvPr id="91" name="s3-d-box"/>
          <p:cNvSpPr/>
          <p:nvPr/>
        </p:nvSpPr>
        <p:spPr>
          <a:xfrm>
            <a:off x="6355080" y="5367528"/>
            <a:ext cx="1435608" cy="19751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E5A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s3-d-title"/>
          <p:cNvSpPr txBox="1"/>
          <p:nvPr/>
        </p:nvSpPr>
        <p:spPr>
          <a:xfrm>
            <a:off x="6437376" y="5477256"/>
            <a:ext cx="1261872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10" b="1" i="0">
                <a:solidFill>
                  <a:srgbClr val="073A7A"/>
                </a:solidFill>
                <a:latin typeface="Microsoft YaHei"/>
              </a:rPr>
              <a:t>D. 自由水蓄水库与</a:t>
            </a:r>
          </a:p>
          <a:p>
            <a:pPr algn="ctr"/>
            <a:r>
              <a:rPr sz="910" b="1" i="0">
                <a:solidFill>
                  <a:srgbClr val="073A7A"/>
                </a:solidFill>
                <a:latin typeface="Microsoft YaHei"/>
              </a:rPr>
              <a:t>三水源划分</a:t>
            </a:r>
          </a:p>
        </p:txBody>
      </p:sp>
      <p:cxnSp>
        <p:nvCxnSpPr>
          <p:cNvPr id="93" name="s3-d-mini-arrow-1"/>
          <p:cNvCxnSpPr/>
          <p:nvPr/>
        </p:nvCxnSpPr>
        <p:spPr>
          <a:xfrm flipV="1">
            <a:off x="6519672" y="6071616"/>
            <a:ext cx="228600" cy="73152"/>
          </a:xfrm>
          <a:prstGeom prst="line">
            <a:avLst/>
          </a:prstGeom>
          <a:ln w="12700">
            <a:solidFill>
              <a:srgbClr val="1E5AA8"/>
            </a:solidFill>
            <a:tailEnd type="triangle" w="sm" len="sm"/>
          </a:ln>
        </p:spPr>
      </p:cxnSp>
      <p:cxnSp>
        <p:nvCxnSpPr>
          <p:cNvPr id="94" name="s3-d-mini-wave-1"/>
          <p:cNvCxnSpPr/>
          <p:nvPr/>
        </p:nvCxnSpPr>
        <p:spPr>
          <a:xfrm>
            <a:off x="6492240" y="6217920"/>
            <a:ext cx="228600" cy="0"/>
          </a:xfrm>
          <a:prstGeom prst="line">
            <a:avLst/>
          </a:prstGeom>
          <a:ln w="12700">
            <a:solidFill>
              <a:srgbClr val="1E5AA8"/>
            </a:solidFill>
          </a:ln>
        </p:spPr>
      </p:cxnSp>
      <p:sp>
        <p:nvSpPr>
          <p:cNvPr id="95" name="s3-d-row-1"/>
          <p:cNvSpPr txBox="1"/>
          <p:nvPr/>
        </p:nvSpPr>
        <p:spPr>
          <a:xfrm>
            <a:off x="6775704" y="6053328"/>
            <a:ext cx="896112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850" b="0" i="0">
                <a:solidFill>
                  <a:srgbClr val="111111"/>
                </a:solidFill>
                <a:latin typeface="Microsoft YaHei"/>
              </a:rPr>
              <a:t>地表径流  RS</a:t>
            </a:r>
          </a:p>
        </p:txBody>
      </p:sp>
      <p:cxnSp>
        <p:nvCxnSpPr>
          <p:cNvPr id="96" name="s3-d-dash-1"/>
          <p:cNvCxnSpPr/>
          <p:nvPr/>
        </p:nvCxnSpPr>
        <p:spPr>
          <a:xfrm>
            <a:off x="6473952" y="6419088"/>
            <a:ext cx="1207008" cy="0"/>
          </a:xfrm>
          <a:prstGeom prst="line">
            <a:avLst/>
          </a:prstGeom>
          <a:ln w="8890">
            <a:solidFill>
              <a:srgbClr val="1E5AA8"/>
            </a:solidFill>
            <a:prstDash val="dash"/>
          </a:ln>
        </p:spPr>
      </p:cxnSp>
      <p:cxnSp>
        <p:nvCxnSpPr>
          <p:cNvPr id="97" name="s3-d-mini-arrow-2"/>
          <p:cNvCxnSpPr/>
          <p:nvPr/>
        </p:nvCxnSpPr>
        <p:spPr>
          <a:xfrm flipV="1">
            <a:off x="6519672" y="6519672"/>
            <a:ext cx="228600" cy="73152"/>
          </a:xfrm>
          <a:prstGeom prst="line">
            <a:avLst/>
          </a:prstGeom>
          <a:ln w="12700">
            <a:solidFill>
              <a:srgbClr val="1E5AA8"/>
            </a:solidFill>
            <a:tailEnd type="triangle" w="sm" len="sm"/>
          </a:ln>
        </p:spPr>
      </p:cxnSp>
      <p:cxnSp>
        <p:nvCxnSpPr>
          <p:cNvPr id="98" name="s3-d-mini-wave-2"/>
          <p:cNvCxnSpPr/>
          <p:nvPr/>
        </p:nvCxnSpPr>
        <p:spPr>
          <a:xfrm>
            <a:off x="6492240" y="6665976"/>
            <a:ext cx="228600" cy="0"/>
          </a:xfrm>
          <a:prstGeom prst="line">
            <a:avLst/>
          </a:prstGeom>
          <a:ln w="12700">
            <a:solidFill>
              <a:srgbClr val="1E5AA8"/>
            </a:solidFill>
          </a:ln>
        </p:spPr>
      </p:cxnSp>
      <p:sp>
        <p:nvSpPr>
          <p:cNvPr id="99" name="s3-d-row-2"/>
          <p:cNvSpPr txBox="1"/>
          <p:nvPr/>
        </p:nvSpPr>
        <p:spPr>
          <a:xfrm>
            <a:off x="6775704" y="6501384"/>
            <a:ext cx="896112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850" b="0" i="0">
                <a:solidFill>
                  <a:srgbClr val="111111"/>
                </a:solidFill>
                <a:latin typeface="Microsoft YaHei"/>
              </a:rPr>
              <a:t>壤中流  RI</a:t>
            </a:r>
          </a:p>
        </p:txBody>
      </p:sp>
      <p:cxnSp>
        <p:nvCxnSpPr>
          <p:cNvPr id="100" name="s3-d-dash-2"/>
          <p:cNvCxnSpPr/>
          <p:nvPr/>
        </p:nvCxnSpPr>
        <p:spPr>
          <a:xfrm>
            <a:off x="6473952" y="6867144"/>
            <a:ext cx="1207008" cy="0"/>
          </a:xfrm>
          <a:prstGeom prst="line">
            <a:avLst/>
          </a:prstGeom>
          <a:ln w="8890">
            <a:solidFill>
              <a:srgbClr val="1E5AA8"/>
            </a:solidFill>
            <a:prstDash val="dash"/>
          </a:ln>
        </p:spPr>
      </p:cxnSp>
      <p:cxnSp>
        <p:nvCxnSpPr>
          <p:cNvPr id="101" name="s3-d-mini-arrow-3"/>
          <p:cNvCxnSpPr/>
          <p:nvPr/>
        </p:nvCxnSpPr>
        <p:spPr>
          <a:xfrm flipV="1">
            <a:off x="6519672" y="6967728"/>
            <a:ext cx="228600" cy="73152"/>
          </a:xfrm>
          <a:prstGeom prst="line">
            <a:avLst/>
          </a:prstGeom>
          <a:ln w="12700">
            <a:solidFill>
              <a:srgbClr val="1E5AA8"/>
            </a:solidFill>
            <a:tailEnd type="triangle" w="sm" len="sm"/>
          </a:ln>
        </p:spPr>
      </p:cxnSp>
      <p:cxnSp>
        <p:nvCxnSpPr>
          <p:cNvPr id="102" name="s3-d-mini-wave-3"/>
          <p:cNvCxnSpPr/>
          <p:nvPr/>
        </p:nvCxnSpPr>
        <p:spPr>
          <a:xfrm>
            <a:off x="6492240" y="7114032"/>
            <a:ext cx="228600" cy="0"/>
          </a:xfrm>
          <a:prstGeom prst="line">
            <a:avLst/>
          </a:prstGeom>
          <a:ln w="12700">
            <a:solidFill>
              <a:srgbClr val="1E5AA8"/>
            </a:solidFill>
          </a:ln>
        </p:spPr>
      </p:cxnSp>
      <p:sp>
        <p:nvSpPr>
          <p:cNvPr id="103" name="s3-d-row-3"/>
          <p:cNvSpPr txBox="1"/>
          <p:nvPr/>
        </p:nvSpPr>
        <p:spPr>
          <a:xfrm>
            <a:off x="6775704" y="6949440"/>
            <a:ext cx="896112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850" b="0" i="0">
                <a:solidFill>
                  <a:srgbClr val="111111"/>
                </a:solidFill>
                <a:latin typeface="Microsoft YaHei"/>
              </a:rPr>
              <a:t>地下径流  RG</a:t>
            </a:r>
          </a:p>
        </p:txBody>
      </p:sp>
      <p:sp>
        <p:nvSpPr>
          <p:cNvPr id="104" name="s3-key-box"/>
          <p:cNvSpPr/>
          <p:nvPr/>
        </p:nvSpPr>
        <p:spPr>
          <a:xfrm>
            <a:off x="8138160" y="5367528"/>
            <a:ext cx="1179576" cy="19751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1E5A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s3-key-title"/>
          <p:cNvSpPr txBox="1"/>
          <p:nvPr/>
        </p:nvSpPr>
        <p:spPr>
          <a:xfrm>
            <a:off x="8275320" y="5559552"/>
            <a:ext cx="960120" cy="2103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950" b="1" i="0">
                <a:solidFill>
                  <a:srgbClr val="111111"/>
                </a:solidFill>
                <a:latin typeface="Microsoft YaHei"/>
              </a:rPr>
              <a:t>关键参数示意</a:t>
            </a:r>
          </a:p>
        </p:txBody>
      </p:sp>
      <p:sp>
        <p:nvSpPr>
          <p:cNvPr id="106" name="s3-key-body"/>
          <p:cNvSpPr txBox="1"/>
          <p:nvPr/>
        </p:nvSpPr>
        <p:spPr>
          <a:xfrm>
            <a:off x="8293608" y="5934456"/>
            <a:ext cx="914400" cy="8595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Microsoft YaHei"/>
              </a:rPr>
              <a:t>WM、B、K、</a:t>
            </a:r>
          </a:p>
          <a:p>
            <a:pPr algn="l"/>
            <a:r>
              <a:rPr sz="900" b="0" i="0">
                <a:solidFill>
                  <a:srgbClr val="111111"/>
                </a:solidFill>
                <a:latin typeface="Microsoft YaHei"/>
              </a:rPr>
              <a:t>C、SM、EX、</a:t>
            </a:r>
          </a:p>
          <a:p>
            <a:pPr algn="l"/>
            <a:r>
              <a:rPr sz="900" b="0" i="0">
                <a:solidFill>
                  <a:srgbClr val="111111"/>
                </a:solidFill>
                <a:latin typeface="Microsoft YaHei"/>
              </a:rPr>
              <a:t>KI、KG、</a:t>
            </a:r>
          </a:p>
          <a:p>
            <a:pPr algn="l"/>
            <a:r>
              <a:rPr sz="900" b="0" i="0">
                <a:solidFill>
                  <a:srgbClr val="111111"/>
                </a:solidFill>
                <a:latin typeface="Microsoft YaHei"/>
              </a:rPr>
              <a:t>CS、CI、CG</a:t>
            </a:r>
          </a:p>
        </p:txBody>
      </p:sp>
      <p:sp>
        <p:nvSpPr>
          <p:cNvPr id="107" name="s3-key-note"/>
          <p:cNvSpPr txBox="1"/>
          <p:nvPr/>
        </p:nvSpPr>
        <p:spPr>
          <a:xfrm>
            <a:off x="8266175" y="7159752"/>
            <a:ext cx="932688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860" b="0" i="0">
                <a:solidFill>
                  <a:srgbClr val="111111"/>
                </a:solidFill>
                <a:latin typeface="Microsoft YaHei"/>
              </a:rPr>
              <a:t>进入汇流演算</a:t>
            </a:r>
          </a:p>
        </p:txBody>
      </p:sp>
      <p:pic>
        <p:nvPicPr>
          <p:cNvPr id="108" name="s3-key-waves" descr="s3_waves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29016" y="7424927"/>
            <a:ext cx="1152144" cy="246888"/>
          </a:xfrm>
          <a:prstGeom prst="rect">
            <a:avLst/>
          </a:prstGeom>
        </p:spPr>
      </p:pic>
      <p:cxnSp>
        <p:nvCxnSpPr>
          <p:cNvPr id="109" name="s3-bottom-dash"/>
          <p:cNvCxnSpPr/>
          <p:nvPr/>
        </p:nvCxnSpPr>
        <p:spPr>
          <a:xfrm>
            <a:off x="1719072" y="7644383"/>
            <a:ext cx="5358384" cy="0"/>
          </a:xfrm>
          <a:prstGeom prst="line">
            <a:avLst/>
          </a:prstGeom>
          <a:ln w="11430">
            <a:solidFill>
              <a:srgbClr val="111111"/>
            </a:solidFill>
            <a:prstDash val="dash"/>
          </a:ln>
        </p:spPr>
      </p:cxnSp>
      <p:cxnSp>
        <p:nvCxnSpPr>
          <p:cNvPr id="110" name="s3-bottom-up-a"/>
          <p:cNvCxnSpPr/>
          <p:nvPr/>
        </p:nvCxnSpPr>
        <p:spPr>
          <a:xfrm flipV="1">
            <a:off x="1719072" y="7342631"/>
            <a:ext cx="0" cy="301752"/>
          </a:xfrm>
          <a:prstGeom prst="line">
            <a:avLst/>
          </a:prstGeom>
          <a:ln w="11430">
            <a:solidFill>
              <a:srgbClr val="111111"/>
            </a:solidFill>
            <a:prstDash val="dash"/>
            <a:tailEnd type="triangle" w="sm" len="sm"/>
          </a:ln>
        </p:spPr>
      </p:cxnSp>
      <p:cxnSp>
        <p:nvCxnSpPr>
          <p:cNvPr id="111" name="s3-bottom-up-d"/>
          <p:cNvCxnSpPr/>
          <p:nvPr/>
        </p:nvCxnSpPr>
        <p:spPr>
          <a:xfrm flipV="1">
            <a:off x="7077456" y="7342631"/>
            <a:ext cx="0" cy="301752"/>
          </a:xfrm>
          <a:prstGeom prst="line">
            <a:avLst/>
          </a:prstGeom>
          <a:ln w="11430">
            <a:solidFill>
              <a:srgbClr val="111111"/>
            </a:solidFill>
            <a:prstDash val="dash"/>
            <a:tailEnd type="triangle" w="sm" len="sm"/>
          </a:ln>
        </p:spPr>
      </p:cxnSp>
      <p:sp>
        <p:nvSpPr>
          <p:cNvPr id="112" name="s3-evap-consume"/>
          <p:cNvSpPr txBox="1"/>
          <p:nvPr/>
        </p:nvSpPr>
        <p:spPr>
          <a:xfrm>
            <a:off x="2880360" y="7507224"/>
            <a:ext cx="1124712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111111"/>
                </a:solidFill>
                <a:latin typeface="Microsoft YaHei"/>
              </a:rPr>
              <a:t>蒸散发消耗水量</a:t>
            </a:r>
          </a:p>
        </p:txBody>
      </p:sp>
      <p:cxnSp>
        <p:nvCxnSpPr>
          <p:cNvPr id="113" name="s3-to-s4"/>
          <p:cNvCxnSpPr/>
          <p:nvPr/>
        </p:nvCxnSpPr>
        <p:spPr>
          <a:xfrm>
            <a:off x="4809744" y="7827264"/>
            <a:ext cx="0" cy="155448"/>
          </a:xfrm>
          <a:prstGeom prst="line">
            <a:avLst/>
          </a:prstGeom>
          <a:ln w="13970">
            <a:solidFill>
              <a:srgbClr val="111111"/>
            </a:solidFill>
            <a:tailEnd type="triangle" w="sm" len="sm"/>
          </a:ln>
        </p:spPr>
      </p:cxnSp>
      <p:sp>
        <p:nvSpPr>
          <p:cNvPr id="114" name="s4-outer"/>
          <p:cNvSpPr/>
          <p:nvPr/>
        </p:nvSpPr>
        <p:spPr>
          <a:xfrm>
            <a:off x="210312" y="7982712"/>
            <a:ext cx="9244584" cy="12527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E5A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s4-header"/>
          <p:cNvSpPr/>
          <p:nvPr/>
        </p:nvSpPr>
        <p:spPr>
          <a:xfrm>
            <a:off x="219456" y="7991856"/>
            <a:ext cx="9226296" cy="347472"/>
          </a:xfrm>
          <a:prstGeom prst="rect">
            <a:avLst/>
          </a:prstGeom>
          <a:solidFill>
            <a:srgbClr val="EAF4FF"/>
          </a:solidFill>
          <a:ln w="8890">
            <a:solidFill>
              <a:srgbClr val="1E5A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s4-badge"/>
          <p:cNvSpPr/>
          <p:nvPr/>
        </p:nvSpPr>
        <p:spPr>
          <a:xfrm>
            <a:off x="219456" y="7982712"/>
            <a:ext cx="411480" cy="347472"/>
          </a:xfrm>
          <a:prstGeom prst="rect">
            <a:avLst/>
          </a:prstGeom>
          <a:solidFill>
            <a:srgbClr val="073A7A"/>
          </a:solidFill>
          <a:ln>
            <a:solidFill>
              <a:srgbClr val="073A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s4-badge-text"/>
          <p:cNvSpPr txBox="1"/>
          <p:nvPr/>
        </p:nvSpPr>
        <p:spPr>
          <a:xfrm>
            <a:off x="338328" y="8028431"/>
            <a:ext cx="164592" cy="2560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8" name="s4-header-title"/>
          <p:cNvSpPr txBox="1"/>
          <p:nvPr/>
        </p:nvSpPr>
        <p:spPr>
          <a:xfrm>
            <a:off x="640080" y="8055864"/>
            <a:ext cx="84582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1450" b="1" i="0">
                <a:solidFill>
                  <a:srgbClr val="073A7A"/>
                </a:solidFill>
                <a:latin typeface="Microsoft YaHei"/>
              </a:rPr>
              <a:t>汇流演算</a:t>
            </a:r>
          </a:p>
        </p:txBody>
      </p:sp>
      <p:sp>
        <p:nvSpPr>
          <p:cNvPr id="119" name="s4-step-1"/>
          <p:cNvSpPr/>
          <p:nvPr/>
        </p:nvSpPr>
        <p:spPr>
          <a:xfrm>
            <a:off x="484632" y="8412480"/>
            <a:ext cx="2505456" cy="7223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E5AA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0" name="s4-step-1-icon" descr="s4_drops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7512" y="8549640"/>
            <a:ext cx="502920" cy="411480"/>
          </a:xfrm>
          <a:prstGeom prst="rect">
            <a:avLst/>
          </a:prstGeom>
        </p:spPr>
      </p:pic>
      <p:sp>
        <p:nvSpPr>
          <p:cNvPr id="121" name="s4-step-1-title"/>
          <p:cNvSpPr txBox="1"/>
          <p:nvPr/>
        </p:nvSpPr>
        <p:spPr>
          <a:xfrm>
            <a:off x="1280160" y="8513064"/>
            <a:ext cx="1636776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1000" b="1" i="0">
                <a:solidFill>
                  <a:srgbClr val="111111"/>
                </a:solidFill>
                <a:latin typeface="Microsoft YaHei"/>
              </a:rPr>
              <a:t>1. 净雨与产流过程</a:t>
            </a:r>
          </a:p>
        </p:txBody>
      </p:sp>
      <p:sp>
        <p:nvSpPr>
          <p:cNvPr id="122" name="s4-step-1-body"/>
          <p:cNvSpPr txBox="1"/>
          <p:nvPr/>
        </p:nvSpPr>
        <p:spPr>
          <a:xfrm>
            <a:off x="1289304" y="8805672"/>
            <a:ext cx="1609344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880" b="0" i="0">
                <a:solidFill>
                  <a:srgbClr val="111111"/>
                </a:solidFill>
                <a:latin typeface="Microsoft YaHei"/>
              </a:rPr>
              <a:t>降雨扣除与产流量计算</a:t>
            </a:r>
          </a:p>
        </p:txBody>
      </p:sp>
      <p:sp>
        <p:nvSpPr>
          <p:cNvPr id="123" name="s4-step-2"/>
          <p:cNvSpPr/>
          <p:nvPr/>
        </p:nvSpPr>
        <p:spPr>
          <a:xfrm>
            <a:off x="3355848" y="8412480"/>
            <a:ext cx="2267712" cy="7223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E5AA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4" name="s4-step-2-icon" descr="s4_slop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38728" y="8549640"/>
            <a:ext cx="502920" cy="411480"/>
          </a:xfrm>
          <a:prstGeom prst="rect">
            <a:avLst/>
          </a:prstGeom>
        </p:spPr>
      </p:pic>
      <p:sp>
        <p:nvSpPr>
          <p:cNvPr id="125" name="s4-step-2-title"/>
          <p:cNvSpPr txBox="1"/>
          <p:nvPr/>
        </p:nvSpPr>
        <p:spPr>
          <a:xfrm>
            <a:off x="4151376" y="8513064"/>
            <a:ext cx="1399032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1000" b="1" i="0">
                <a:solidFill>
                  <a:srgbClr val="111111"/>
                </a:solidFill>
                <a:latin typeface="Microsoft YaHei"/>
              </a:rPr>
              <a:t>2. 坡面汇流</a:t>
            </a:r>
          </a:p>
        </p:txBody>
      </p:sp>
      <p:sp>
        <p:nvSpPr>
          <p:cNvPr id="126" name="s4-step-2-body"/>
          <p:cNvSpPr txBox="1"/>
          <p:nvPr/>
        </p:nvSpPr>
        <p:spPr>
          <a:xfrm>
            <a:off x="4160520" y="880567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880" b="0" i="0">
                <a:solidFill>
                  <a:srgbClr val="111111"/>
                </a:solidFill>
                <a:latin typeface="Microsoft YaHei"/>
              </a:rPr>
              <a:t>单位线 / 线性水库</a:t>
            </a:r>
          </a:p>
        </p:txBody>
      </p:sp>
      <p:sp>
        <p:nvSpPr>
          <p:cNvPr id="127" name="s4-step-3"/>
          <p:cNvSpPr/>
          <p:nvPr/>
        </p:nvSpPr>
        <p:spPr>
          <a:xfrm>
            <a:off x="5961888" y="8412480"/>
            <a:ext cx="2313432" cy="7223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E5AA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8" name="s4-step-3-icon" descr="s4_river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44768" y="8549640"/>
            <a:ext cx="502920" cy="411480"/>
          </a:xfrm>
          <a:prstGeom prst="rect">
            <a:avLst/>
          </a:prstGeom>
        </p:spPr>
      </p:pic>
      <p:sp>
        <p:nvSpPr>
          <p:cNvPr id="129" name="s4-step-3-title"/>
          <p:cNvSpPr txBox="1"/>
          <p:nvPr/>
        </p:nvSpPr>
        <p:spPr>
          <a:xfrm>
            <a:off x="6757416" y="8513064"/>
            <a:ext cx="1444752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1000" b="1" i="0">
                <a:solidFill>
                  <a:srgbClr val="111111"/>
                </a:solidFill>
                <a:latin typeface="Microsoft YaHei"/>
              </a:rPr>
              <a:t>3. 河道汇流</a:t>
            </a:r>
          </a:p>
        </p:txBody>
      </p:sp>
      <p:sp>
        <p:nvSpPr>
          <p:cNvPr id="130" name="s4-step-3-body"/>
          <p:cNvSpPr txBox="1"/>
          <p:nvPr/>
        </p:nvSpPr>
        <p:spPr>
          <a:xfrm>
            <a:off x="6766560" y="8805672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880" b="0" i="0">
                <a:solidFill>
                  <a:srgbClr val="111111"/>
                </a:solidFill>
                <a:latin typeface="Microsoft YaHei"/>
              </a:rPr>
              <a:t>马斯京根法 /</a:t>
            </a:r>
          </a:p>
          <a:p>
            <a:pPr algn="ctr"/>
            <a:r>
              <a:rPr sz="880" b="0" i="0">
                <a:solidFill>
                  <a:srgbClr val="111111"/>
                </a:solidFill>
                <a:latin typeface="Microsoft YaHei"/>
              </a:rPr>
              <a:t>滞时演算</a:t>
            </a:r>
          </a:p>
        </p:txBody>
      </p:sp>
      <p:sp>
        <p:nvSpPr>
          <p:cNvPr id="131" name="s4-output-box"/>
          <p:cNvSpPr/>
          <p:nvPr/>
        </p:nvSpPr>
        <p:spPr>
          <a:xfrm>
            <a:off x="8403336" y="8412480"/>
            <a:ext cx="1060704" cy="7223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E5AA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2" name="s4-output-icon" descr="s4_gau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94776" y="8494776"/>
            <a:ext cx="512064" cy="411480"/>
          </a:xfrm>
          <a:prstGeom prst="rect">
            <a:avLst/>
          </a:prstGeom>
        </p:spPr>
      </p:pic>
      <p:sp>
        <p:nvSpPr>
          <p:cNvPr id="133" name="s4-output-label"/>
          <p:cNvSpPr txBox="1"/>
          <p:nvPr/>
        </p:nvSpPr>
        <p:spPr>
          <a:xfrm>
            <a:off x="8439912" y="8915400"/>
            <a:ext cx="658368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850" b="0" i="0">
                <a:solidFill>
                  <a:srgbClr val="111111"/>
                </a:solidFill>
                <a:latin typeface="Microsoft YaHei"/>
              </a:rPr>
              <a:t>断面流量</a:t>
            </a:r>
          </a:p>
          <a:p>
            <a:pPr algn="ctr"/>
            <a:r>
              <a:rPr sz="850" b="0" i="0">
                <a:solidFill>
                  <a:srgbClr val="111111"/>
                </a:solidFill>
                <a:latin typeface="Microsoft YaHei"/>
              </a:rPr>
              <a:t>输出</a:t>
            </a:r>
          </a:p>
        </p:txBody>
      </p:sp>
      <p:cxnSp>
        <p:nvCxnSpPr>
          <p:cNvPr id="134" name="s4-arrow-1"/>
          <p:cNvCxnSpPr/>
          <p:nvPr/>
        </p:nvCxnSpPr>
        <p:spPr>
          <a:xfrm>
            <a:off x="2990088" y="8778240"/>
            <a:ext cx="365760" cy="0"/>
          </a:xfrm>
          <a:prstGeom prst="line">
            <a:avLst/>
          </a:prstGeom>
          <a:ln w="13970">
            <a:solidFill>
              <a:srgbClr val="111111"/>
            </a:solidFill>
            <a:tailEnd type="triangle" w="sm" len="sm"/>
          </a:ln>
        </p:spPr>
      </p:cxnSp>
      <p:cxnSp>
        <p:nvCxnSpPr>
          <p:cNvPr id="135" name="s4-arrow-2"/>
          <p:cNvCxnSpPr/>
          <p:nvPr/>
        </p:nvCxnSpPr>
        <p:spPr>
          <a:xfrm>
            <a:off x="5623560" y="8778240"/>
            <a:ext cx="338328" cy="0"/>
          </a:xfrm>
          <a:prstGeom prst="line">
            <a:avLst/>
          </a:prstGeom>
          <a:ln w="13970">
            <a:solidFill>
              <a:srgbClr val="111111"/>
            </a:solidFill>
            <a:tailEnd type="triangle" w="sm" len="sm"/>
          </a:ln>
        </p:spPr>
      </p:cxnSp>
      <p:cxnSp>
        <p:nvCxnSpPr>
          <p:cNvPr id="136" name="s4-arrow-3"/>
          <p:cNvCxnSpPr/>
          <p:nvPr/>
        </p:nvCxnSpPr>
        <p:spPr>
          <a:xfrm>
            <a:off x="8275320" y="8778240"/>
            <a:ext cx="128016" cy="0"/>
          </a:xfrm>
          <a:prstGeom prst="line">
            <a:avLst/>
          </a:prstGeom>
          <a:ln w="13970">
            <a:solidFill>
              <a:srgbClr val="111111"/>
            </a:solidFill>
            <a:tailEnd type="triangle" w="sm" len="sm"/>
          </a:ln>
        </p:spPr>
      </p:cxnSp>
      <p:cxnSp>
        <p:nvCxnSpPr>
          <p:cNvPr id="137" name="s4-to-s5"/>
          <p:cNvCxnSpPr/>
          <p:nvPr/>
        </p:nvCxnSpPr>
        <p:spPr>
          <a:xfrm>
            <a:off x="4809744" y="9235440"/>
            <a:ext cx="0" cy="219456"/>
          </a:xfrm>
          <a:prstGeom prst="line">
            <a:avLst/>
          </a:prstGeom>
          <a:ln w="13970">
            <a:solidFill>
              <a:srgbClr val="111111"/>
            </a:solidFill>
            <a:tailEnd type="triangle" w="sm" len="sm"/>
          </a:ln>
        </p:spPr>
      </p:cxnSp>
      <p:sp>
        <p:nvSpPr>
          <p:cNvPr id="138" name="s5-outer"/>
          <p:cNvSpPr/>
          <p:nvPr/>
        </p:nvSpPr>
        <p:spPr>
          <a:xfrm>
            <a:off x="210312" y="9454896"/>
            <a:ext cx="9244584" cy="16733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E5A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s5-header"/>
          <p:cNvSpPr/>
          <p:nvPr/>
        </p:nvSpPr>
        <p:spPr>
          <a:xfrm>
            <a:off x="219456" y="9464040"/>
            <a:ext cx="9226296" cy="347472"/>
          </a:xfrm>
          <a:prstGeom prst="rect">
            <a:avLst/>
          </a:prstGeom>
          <a:solidFill>
            <a:srgbClr val="EAF4FF"/>
          </a:solidFill>
          <a:ln w="8890">
            <a:solidFill>
              <a:srgbClr val="1E5A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s5-badge"/>
          <p:cNvSpPr/>
          <p:nvPr/>
        </p:nvSpPr>
        <p:spPr>
          <a:xfrm>
            <a:off x="219456" y="9454896"/>
            <a:ext cx="411480" cy="347472"/>
          </a:xfrm>
          <a:prstGeom prst="rect">
            <a:avLst/>
          </a:prstGeom>
          <a:solidFill>
            <a:srgbClr val="073A7A"/>
          </a:solidFill>
          <a:ln>
            <a:solidFill>
              <a:srgbClr val="073A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s5-badge-text"/>
          <p:cNvSpPr txBox="1"/>
          <p:nvPr/>
        </p:nvSpPr>
        <p:spPr>
          <a:xfrm>
            <a:off x="338328" y="9500616"/>
            <a:ext cx="164592" cy="2560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142" name="s5-header-title"/>
          <p:cNvSpPr txBox="1"/>
          <p:nvPr/>
        </p:nvSpPr>
        <p:spPr>
          <a:xfrm>
            <a:off x="640080" y="9528048"/>
            <a:ext cx="84582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1450" b="1" i="0">
                <a:solidFill>
                  <a:srgbClr val="073A7A"/>
                </a:solidFill>
                <a:latin typeface="Microsoft YaHei"/>
              </a:rPr>
              <a:t>参数率定与模型检验</a:t>
            </a:r>
          </a:p>
        </p:txBody>
      </p:sp>
      <p:sp>
        <p:nvSpPr>
          <p:cNvPr id="143" name="s5-calib-outer"/>
          <p:cNvSpPr/>
          <p:nvPr/>
        </p:nvSpPr>
        <p:spPr>
          <a:xfrm>
            <a:off x="365760" y="9875520"/>
            <a:ext cx="3392424" cy="110642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E5A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s5-calib-head"/>
          <p:cNvSpPr/>
          <p:nvPr/>
        </p:nvSpPr>
        <p:spPr>
          <a:xfrm>
            <a:off x="374904" y="9884664"/>
            <a:ext cx="3374136" cy="274320"/>
          </a:xfrm>
          <a:prstGeom prst="rect">
            <a:avLst/>
          </a:prstGeom>
          <a:solidFill>
            <a:srgbClr val="EAF4FF"/>
          </a:solidFill>
          <a:ln w="8890">
            <a:solidFill>
              <a:srgbClr val="1E5A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s5-calib-title"/>
          <p:cNvSpPr txBox="1"/>
          <p:nvPr/>
        </p:nvSpPr>
        <p:spPr>
          <a:xfrm>
            <a:off x="1655064" y="9912096"/>
            <a:ext cx="758952" cy="2103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1050" b="1" i="0">
                <a:solidFill>
                  <a:srgbClr val="073A7A"/>
                </a:solidFill>
                <a:latin typeface="Microsoft YaHei"/>
              </a:rPr>
              <a:t>参数率定</a:t>
            </a:r>
          </a:p>
        </p:txBody>
      </p:sp>
      <p:cxnSp>
        <p:nvCxnSpPr>
          <p:cNvPr id="146" name="s5-calib-sep-153"/>
          <p:cNvCxnSpPr/>
          <p:nvPr/>
        </p:nvCxnSpPr>
        <p:spPr>
          <a:xfrm>
            <a:off x="1399032" y="10158984"/>
            <a:ext cx="0" cy="813816"/>
          </a:xfrm>
          <a:prstGeom prst="line">
            <a:avLst/>
          </a:prstGeom>
          <a:ln w="10160">
            <a:solidFill>
              <a:srgbClr val="B9C7DA"/>
            </a:solidFill>
          </a:ln>
        </p:spPr>
      </p:cxnSp>
      <p:cxnSp>
        <p:nvCxnSpPr>
          <p:cNvPr id="147" name="s5-calib-sep-282"/>
          <p:cNvCxnSpPr/>
          <p:nvPr/>
        </p:nvCxnSpPr>
        <p:spPr>
          <a:xfrm>
            <a:off x="2578608" y="10158984"/>
            <a:ext cx="0" cy="813816"/>
          </a:xfrm>
          <a:prstGeom prst="line">
            <a:avLst/>
          </a:prstGeom>
          <a:ln w="10160">
            <a:solidFill>
              <a:srgbClr val="B9C7DA"/>
            </a:solidFill>
          </a:ln>
        </p:spPr>
      </p:cxnSp>
      <p:pic>
        <p:nvPicPr>
          <p:cNvPr id="148" name="s5-calib-icon-1" descr="s5_bars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94944" y="10222992"/>
            <a:ext cx="411480" cy="365760"/>
          </a:xfrm>
          <a:prstGeom prst="rect">
            <a:avLst/>
          </a:prstGeom>
        </p:spPr>
      </p:pic>
      <p:sp>
        <p:nvSpPr>
          <p:cNvPr id="149" name="s5-calib-label-1"/>
          <p:cNvSpPr txBox="1"/>
          <p:nvPr/>
        </p:nvSpPr>
        <p:spPr>
          <a:xfrm>
            <a:off x="438912" y="10643616"/>
            <a:ext cx="960120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869" b="0" i="0">
                <a:solidFill>
                  <a:srgbClr val="111111"/>
                </a:solidFill>
                <a:latin typeface="Microsoft YaHei"/>
              </a:rPr>
              <a:t>历史洪水选取</a:t>
            </a:r>
          </a:p>
        </p:txBody>
      </p:sp>
      <p:pic>
        <p:nvPicPr>
          <p:cNvPr id="150" name="s5-calib-icon-2" descr="s5_magnifier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883664" y="10222992"/>
            <a:ext cx="411480" cy="365760"/>
          </a:xfrm>
          <a:prstGeom prst="rect">
            <a:avLst/>
          </a:prstGeom>
        </p:spPr>
      </p:pic>
      <p:sp>
        <p:nvSpPr>
          <p:cNvPr id="151" name="s5-calib-label-2"/>
          <p:cNvSpPr txBox="1"/>
          <p:nvPr/>
        </p:nvSpPr>
        <p:spPr>
          <a:xfrm>
            <a:off x="1627632" y="10643616"/>
            <a:ext cx="960120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869" b="0" i="0">
                <a:solidFill>
                  <a:srgbClr val="111111"/>
                </a:solidFill>
                <a:latin typeface="Microsoft YaHei"/>
              </a:rPr>
              <a:t>参数敏感性分析</a:t>
            </a:r>
          </a:p>
        </p:txBody>
      </p:sp>
      <p:pic>
        <p:nvPicPr>
          <p:cNvPr id="152" name="s5-calib-icon-3" descr="s5_sliders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054096" y="10222992"/>
            <a:ext cx="411480" cy="365760"/>
          </a:xfrm>
          <a:prstGeom prst="rect">
            <a:avLst/>
          </a:prstGeom>
        </p:spPr>
      </p:pic>
      <p:sp>
        <p:nvSpPr>
          <p:cNvPr id="153" name="s5-calib-label-3"/>
          <p:cNvSpPr txBox="1"/>
          <p:nvPr/>
        </p:nvSpPr>
        <p:spPr>
          <a:xfrm>
            <a:off x="2798064" y="10643616"/>
            <a:ext cx="960120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869" b="0" i="0">
                <a:solidFill>
                  <a:srgbClr val="111111"/>
                </a:solidFill>
                <a:latin typeface="Microsoft YaHei"/>
              </a:rPr>
              <a:t>自动/人工率定</a:t>
            </a:r>
          </a:p>
        </p:txBody>
      </p:sp>
      <p:cxnSp>
        <p:nvCxnSpPr>
          <p:cNvPr id="154" name="s5-bidirectional"/>
          <p:cNvCxnSpPr/>
          <p:nvPr/>
        </p:nvCxnSpPr>
        <p:spPr>
          <a:xfrm>
            <a:off x="3767328" y="10424160"/>
            <a:ext cx="850392" cy="0"/>
          </a:xfrm>
          <a:prstGeom prst="line">
            <a:avLst/>
          </a:prstGeom>
          <a:ln w="12700">
            <a:solidFill>
              <a:srgbClr val="111111"/>
            </a:solidFill>
            <a:prstDash val="dash"/>
            <a:headEnd type="triangle" w="sm" len="sm"/>
            <a:tailEnd type="triangle" w="sm" len="sm"/>
          </a:ln>
        </p:spPr>
      </p:cxnSp>
      <p:sp>
        <p:nvSpPr>
          <p:cNvPr id="155" name="s5-eval-outer"/>
          <p:cNvSpPr/>
          <p:nvPr/>
        </p:nvSpPr>
        <p:spPr>
          <a:xfrm>
            <a:off x="4617720" y="9875520"/>
            <a:ext cx="4681728" cy="110642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E5A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s5-eval-head"/>
          <p:cNvSpPr/>
          <p:nvPr/>
        </p:nvSpPr>
        <p:spPr>
          <a:xfrm>
            <a:off x="4626864" y="9884664"/>
            <a:ext cx="4663440" cy="274320"/>
          </a:xfrm>
          <a:prstGeom prst="rect">
            <a:avLst/>
          </a:prstGeom>
          <a:solidFill>
            <a:srgbClr val="EAF4FF"/>
          </a:solidFill>
          <a:ln w="8890">
            <a:solidFill>
              <a:srgbClr val="1E5A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s5-eval-title"/>
          <p:cNvSpPr txBox="1"/>
          <p:nvPr/>
        </p:nvSpPr>
        <p:spPr>
          <a:xfrm>
            <a:off x="6080760" y="9912096"/>
            <a:ext cx="1280160" cy="2103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1050" b="1" i="0">
                <a:solidFill>
                  <a:srgbClr val="073A7A"/>
                </a:solidFill>
                <a:latin typeface="Microsoft YaHei"/>
              </a:rPr>
              <a:t>模型验证与评价</a:t>
            </a:r>
          </a:p>
        </p:txBody>
      </p:sp>
      <p:cxnSp>
        <p:nvCxnSpPr>
          <p:cNvPr id="158" name="s5-eval-sep-596"/>
          <p:cNvCxnSpPr/>
          <p:nvPr/>
        </p:nvCxnSpPr>
        <p:spPr>
          <a:xfrm>
            <a:off x="5449824" y="10158984"/>
            <a:ext cx="0" cy="813816"/>
          </a:xfrm>
          <a:prstGeom prst="line">
            <a:avLst/>
          </a:prstGeom>
          <a:ln w="10160">
            <a:solidFill>
              <a:srgbClr val="B9C7DA"/>
            </a:solidFill>
          </a:ln>
        </p:spPr>
      </p:cxnSp>
      <p:cxnSp>
        <p:nvCxnSpPr>
          <p:cNvPr id="159" name="s5-eval-sep-696"/>
          <p:cNvCxnSpPr/>
          <p:nvPr/>
        </p:nvCxnSpPr>
        <p:spPr>
          <a:xfrm>
            <a:off x="6364224" y="10158984"/>
            <a:ext cx="0" cy="813816"/>
          </a:xfrm>
          <a:prstGeom prst="line">
            <a:avLst/>
          </a:prstGeom>
          <a:ln w="10160">
            <a:solidFill>
              <a:srgbClr val="B9C7DA"/>
            </a:solidFill>
          </a:ln>
        </p:spPr>
      </p:cxnSp>
      <p:cxnSp>
        <p:nvCxnSpPr>
          <p:cNvPr id="160" name="s5-eval-sep-797"/>
          <p:cNvCxnSpPr/>
          <p:nvPr/>
        </p:nvCxnSpPr>
        <p:spPr>
          <a:xfrm>
            <a:off x="7287768" y="10158984"/>
            <a:ext cx="0" cy="813816"/>
          </a:xfrm>
          <a:prstGeom prst="line">
            <a:avLst/>
          </a:prstGeom>
          <a:ln w="10160">
            <a:solidFill>
              <a:srgbClr val="B9C7DA"/>
            </a:solidFill>
          </a:ln>
        </p:spPr>
      </p:cxnSp>
      <p:cxnSp>
        <p:nvCxnSpPr>
          <p:cNvPr id="161" name="s5-eval-sep-899"/>
          <p:cNvCxnSpPr/>
          <p:nvPr/>
        </p:nvCxnSpPr>
        <p:spPr>
          <a:xfrm>
            <a:off x="8220456" y="10158984"/>
            <a:ext cx="0" cy="813816"/>
          </a:xfrm>
          <a:prstGeom prst="line">
            <a:avLst/>
          </a:prstGeom>
          <a:ln w="10160">
            <a:solidFill>
              <a:srgbClr val="B9C7DA"/>
            </a:solidFill>
          </a:ln>
        </p:spPr>
      </p:cxnSp>
      <p:pic>
        <p:nvPicPr>
          <p:cNvPr id="162" name="s5-eval-icon-1" descr="s5_ns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855464" y="10222992"/>
            <a:ext cx="438912" cy="347472"/>
          </a:xfrm>
          <a:prstGeom prst="rect">
            <a:avLst/>
          </a:prstGeom>
        </p:spPr>
      </p:pic>
      <p:sp>
        <p:nvSpPr>
          <p:cNvPr id="163" name="s5-eval-label-1"/>
          <p:cNvSpPr txBox="1"/>
          <p:nvPr/>
        </p:nvSpPr>
        <p:spPr>
          <a:xfrm>
            <a:off x="4754880" y="10570464"/>
            <a:ext cx="658368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850" b="0" i="0">
                <a:solidFill>
                  <a:srgbClr val="111111"/>
                </a:solidFill>
                <a:latin typeface="Microsoft YaHei"/>
              </a:rPr>
              <a:t>NSE</a:t>
            </a:r>
          </a:p>
        </p:txBody>
      </p:sp>
      <p:sp>
        <p:nvSpPr>
          <p:cNvPr id="164" name="s5-eval-percent"/>
          <p:cNvSpPr txBox="1"/>
          <p:nvPr/>
        </p:nvSpPr>
        <p:spPr>
          <a:xfrm>
            <a:off x="5760720" y="10177272"/>
            <a:ext cx="402336" cy="3840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2000" b="0" i="0">
                <a:solidFill>
                  <a:srgbClr val="073A7A"/>
                </a:solidFill>
                <a:latin typeface="Microsoft YaHei"/>
              </a:rPr>
              <a:t>%</a:t>
            </a:r>
          </a:p>
        </p:txBody>
      </p:sp>
      <p:sp>
        <p:nvSpPr>
          <p:cNvPr id="165" name="s5-eval-label-2"/>
          <p:cNvSpPr txBox="1"/>
          <p:nvPr/>
        </p:nvSpPr>
        <p:spPr>
          <a:xfrm>
            <a:off x="5687568" y="10570464"/>
            <a:ext cx="658368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850" b="0" i="0">
                <a:solidFill>
                  <a:srgbClr val="111111"/>
                </a:solidFill>
                <a:latin typeface="Microsoft YaHei"/>
              </a:rPr>
              <a:t>相对误差</a:t>
            </a:r>
          </a:p>
          <a:p>
            <a:pPr algn="ctr"/>
            <a:r>
              <a:rPr sz="850" b="0" i="0">
                <a:solidFill>
                  <a:srgbClr val="111111"/>
                </a:solidFill>
                <a:latin typeface="Microsoft YaHei"/>
              </a:rPr>
              <a:t>RE</a:t>
            </a:r>
          </a:p>
        </p:txBody>
      </p:sp>
      <p:pic>
        <p:nvPicPr>
          <p:cNvPr id="166" name="s5-eval-icon-3" descr="s5_curv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675120" y="10222992"/>
            <a:ext cx="438912" cy="347472"/>
          </a:xfrm>
          <a:prstGeom prst="rect">
            <a:avLst/>
          </a:prstGeom>
        </p:spPr>
      </p:pic>
      <p:sp>
        <p:nvSpPr>
          <p:cNvPr id="167" name="s5-eval-label-3"/>
          <p:cNvSpPr txBox="1"/>
          <p:nvPr/>
        </p:nvSpPr>
        <p:spPr>
          <a:xfrm>
            <a:off x="6574536" y="10570464"/>
            <a:ext cx="658368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850" b="0" i="0">
                <a:solidFill>
                  <a:srgbClr val="111111"/>
                </a:solidFill>
                <a:latin typeface="Microsoft YaHei"/>
              </a:rPr>
              <a:t>洪峰误差</a:t>
            </a:r>
          </a:p>
        </p:txBody>
      </p:sp>
      <p:pic>
        <p:nvPicPr>
          <p:cNvPr id="168" name="s5-eval-icon-4" descr="s5_clock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589520" y="10222992"/>
            <a:ext cx="438912" cy="347472"/>
          </a:xfrm>
          <a:prstGeom prst="rect">
            <a:avLst/>
          </a:prstGeom>
        </p:spPr>
      </p:pic>
      <p:sp>
        <p:nvSpPr>
          <p:cNvPr id="169" name="s5-eval-label-4"/>
          <p:cNvSpPr txBox="1"/>
          <p:nvPr/>
        </p:nvSpPr>
        <p:spPr>
          <a:xfrm>
            <a:off x="7488936" y="10570464"/>
            <a:ext cx="658368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850" b="0" i="0">
                <a:solidFill>
                  <a:srgbClr val="111111"/>
                </a:solidFill>
                <a:latin typeface="Microsoft YaHei"/>
              </a:rPr>
              <a:t>峰现时间</a:t>
            </a:r>
          </a:p>
          <a:p>
            <a:pPr algn="ctr"/>
            <a:r>
              <a:rPr sz="850" b="0" i="0">
                <a:solidFill>
                  <a:srgbClr val="111111"/>
                </a:solidFill>
                <a:latin typeface="Microsoft YaHei"/>
              </a:rPr>
              <a:t>误差</a:t>
            </a:r>
          </a:p>
        </p:txBody>
      </p:sp>
      <p:pic>
        <p:nvPicPr>
          <p:cNvPr id="170" name="s5-eval-icon-5" descr="s5_fit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641080" y="10222992"/>
            <a:ext cx="438912" cy="347472"/>
          </a:xfrm>
          <a:prstGeom prst="rect">
            <a:avLst/>
          </a:prstGeom>
        </p:spPr>
      </p:pic>
      <p:sp>
        <p:nvSpPr>
          <p:cNvPr id="171" name="s5-eval-label-5"/>
          <p:cNvSpPr txBox="1"/>
          <p:nvPr/>
        </p:nvSpPr>
        <p:spPr>
          <a:xfrm>
            <a:off x="8540496" y="10570464"/>
            <a:ext cx="658368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850" b="0" i="0">
                <a:solidFill>
                  <a:srgbClr val="111111"/>
                </a:solidFill>
                <a:latin typeface="Microsoft YaHei"/>
              </a:rPr>
              <a:t>过程线拟合</a:t>
            </a:r>
          </a:p>
        </p:txBody>
      </p:sp>
      <p:cxnSp>
        <p:nvCxnSpPr>
          <p:cNvPr id="172" name="s5-to-s6"/>
          <p:cNvCxnSpPr/>
          <p:nvPr/>
        </p:nvCxnSpPr>
        <p:spPr>
          <a:xfrm>
            <a:off x="4809744" y="11128248"/>
            <a:ext cx="0" cy="128016"/>
          </a:xfrm>
          <a:prstGeom prst="line">
            <a:avLst/>
          </a:prstGeom>
          <a:ln w="13970">
            <a:solidFill>
              <a:srgbClr val="111111"/>
            </a:solidFill>
            <a:tailEnd type="triangle" w="sm" len="sm"/>
          </a:ln>
        </p:spPr>
      </p:cxnSp>
      <p:sp>
        <p:nvSpPr>
          <p:cNvPr id="173" name="s6-outer"/>
          <p:cNvSpPr/>
          <p:nvPr/>
        </p:nvSpPr>
        <p:spPr>
          <a:xfrm>
            <a:off x="210312" y="11256264"/>
            <a:ext cx="9244584" cy="22677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E5A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s6-header"/>
          <p:cNvSpPr/>
          <p:nvPr/>
        </p:nvSpPr>
        <p:spPr>
          <a:xfrm>
            <a:off x="219456" y="11265408"/>
            <a:ext cx="9226296" cy="347472"/>
          </a:xfrm>
          <a:prstGeom prst="rect">
            <a:avLst/>
          </a:prstGeom>
          <a:solidFill>
            <a:srgbClr val="EAF4FF"/>
          </a:solidFill>
          <a:ln w="8890">
            <a:solidFill>
              <a:srgbClr val="1E5A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s6-badge"/>
          <p:cNvSpPr/>
          <p:nvPr/>
        </p:nvSpPr>
        <p:spPr>
          <a:xfrm>
            <a:off x="219456" y="11256264"/>
            <a:ext cx="411480" cy="347472"/>
          </a:xfrm>
          <a:prstGeom prst="rect">
            <a:avLst/>
          </a:prstGeom>
          <a:solidFill>
            <a:srgbClr val="073A7A"/>
          </a:solidFill>
          <a:ln>
            <a:solidFill>
              <a:srgbClr val="073A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s6-badge-text"/>
          <p:cNvSpPr txBox="1"/>
          <p:nvPr/>
        </p:nvSpPr>
        <p:spPr>
          <a:xfrm>
            <a:off x="338328" y="11301984"/>
            <a:ext cx="164592" cy="2560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77" name="s6-header-title"/>
          <p:cNvSpPr txBox="1"/>
          <p:nvPr/>
        </p:nvSpPr>
        <p:spPr>
          <a:xfrm>
            <a:off x="640080" y="11329416"/>
            <a:ext cx="84582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1450" b="1" i="0">
                <a:solidFill>
                  <a:srgbClr val="073A7A"/>
                </a:solidFill>
                <a:latin typeface="Microsoft YaHei"/>
              </a:rPr>
              <a:t>输出成果与应用</a:t>
            </a:r>
          </a:p>
        </p:txBody>
      </p:sp>
      <p:sp>
        <p:nvSpPr>
          <p:cNvPr id="178" name="s6-card-1"/>
          <p:cNvSpPr/>
          <p:nvPr/>
        </p:nvSpPr>
        <p:spPr>
          <a:xfrm>
            <a:off x="365760" y="11740896"/>
            <a:ext cx="1536192" cy="10424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E5A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s6-card-1-label"/>
          <p:cNvSpPr txBox="1"/>
          <p:nvPr/>
        </p:nvSpPr>
        <p:spPr>
          <a:xfrm>
            <a:off x="457200" y="11804904"/>
            <a:ext cx="1353312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50" b="1" i="0">
                <a:solidFill>
                  <a:srgbClr val="111111"/>
                </a:solidFill>
                <a:latin typeface="Microsoft YaHei"/>
              </a:rPr>
              <a:t>1. 流量过程模拟</a:t>
            </a:r>
          </a:p>
        </p:txBody>
      </p:sp>
      <p:pic>
        <p:nvPicPr>
          <p:cNvPr id="180" name="s6-card-1-icon" descr="s6_flow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21792" y="12070080"/>
            <a:ext cx="1024128" cy="530352"/>
          </a:xfrm>
          <a:prstGeom prst="rect">
            <a:avLst/>
          </a:prstGeom>
        </p:spPr>
      </p:pic>
      <p:cxnSp>
        <p:nvCxnSpPr>
          <p:cNvPr id="181" name="s6-card-1-down"/>
          <p:cNvCxnSpPr/>
          <p:nvPr/>
        </p:nvCxnSpPr>
        <p:spPr>
          <a:xfrm>
            <a:off x="1133856" y="12783312"/>
            <a:ext cx="0" cy="109728"/>
          </a:xfrm>
          <a:prstGeom prst="line">
            <a:avLst/>
          </a:prstGeom>
          <a:ln w="10160">
            <a:solidFill>
              <a:srgbClr val="333333"/>
            </a:solidFill>
          </a:ln>
        </p:spPr>
      </p:cxnSp>
      <p:sp>
        <p:nvSpPr>
          <p:cNvPr id="182" name="s6-card-2"/>
          <p:cNvSpPr/>
          <p:nvPr/>
        </p:nvSpPr>
        <p:spPr>
          <a:xfrm>
            <a:off x="2084831" y="11740896"/>
            <a:ext cx="1536192" cy="10424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E5A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s6-card-2-label"/>
          <p:cNvSpPr txBox="1"/>
          <p:nvPr/>
        </p:nvSpPr>
        <p:spPr>
          <a:xfrm>
            <a:off x="2176272" y="11804904"/>
            <a:ext cx="1353312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50" b="1" i="0">
                <a:solidFill>
                  <a:srgbClr val="111111"/>
                </a:solidFill>
                <a:latin typeface="Microsoft YaHei"/>
              </a:rPr>
              <a:t>2. 洪峰与峰现时间预报</a:t>
            </a:r>
          </a:p>
        </p:txBody>
      </p:sp>
      <p:pic>
        <p:nvPicPr>
          <p:cNvPr id="184" name="s6-card-2-icon" descr="s6_peak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340864" y="12070080"/>
            <a:ext cx="1024128" cy="530352"/>
          </a:xfrm>
          <a:prstGeom prst="rect">
            <a:avLst/>
          </a:prstGeom>
        </p:spPr>
      </p:pic>
      <p:cxnSp>
        <p:nvCxnSpPr>
          <p:cNvPr id="185" name="s6-card-2-down"/>
          <p:cNvCxnSpPr/>
          <p:nvPr/>
        </p:nvCxnSpPr>
        <p:spPr>
          <a:xfrm>
            <a:off x="2852928" y="12783312"/>
            <a:ext cx="0" cy="109728"/>
          </a:xfrm>
          <a:prstGeom prst="line">
            <a:avLst/>
          </a:prstGeom>
          <a:ln w="10160">
            <a:solidFill>
              <a:srgbClr val="333333"/>
            </a:solidFill>
          </a:ln>
        </p:spPr>
      </p:cxnSp>
      <p:sp>
        <p:nvSpPr>
          <p:cNvPr id="186" name="s6-card-3"/>
          <p:cNvSpPr/>
          <p:nvPr/>
        </p:nvSpPr>
        <p:spPr>
          <a:xfrm>
            <a:off x="4050791" y="11740896"/>
            <a:ext cx="1536192" cy="10424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E5A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s6-card-3-label"/>
          <p:cNvSpPr txBox="1"/>
          <p:nvPr/>
        </p:nvSpPr>
        <p:spPr>
          <a:xfrm>
            <a:off x="4142232" y="11804904"/>
            <a:ext cx="1353312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50" b="1" i="0">
                <a:solidFill>
                  <a:srgbClr val="111111"/>
                </a:solidFill>
                <a:latin typeface="Microsoft YaHei"/>
              </a:rPr>
              <a:t>3. 断面来水预报</a:t>
            </a:r>
          </a:p>
        </p:txBody>
      </p:sp>
      <p:pic>
        <p:nvPicPr>
          <p:cNvPr id="188" name="s6-card-3-icon" descr="s6_section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306824" y="12070080"/>
            <a:ext cx="1024128" cy="530352"/>
          </a:xfrm>
          <a:prstGeom prst="rect">
            <a:avLst/>
          </a:prstGeom>
        </p:spPr>
      </p:pic>
      <p:cxnSp>
        <p:nvCxnSpPr>
          <p:cNvPr id="189" name="s6-card-3-down"/>
          <p:cNvCxnSpPr/>
          <p:nvPr/>
        </p:nvCxnSpPr>
        <p:spPr>
          <a:xfrm>
            <a:off x="4818888" y="12783312"/>
            <a:ext cx="0" cy="109728"/>
          </a:xfrm>
          <a:prstGeom prst="line">
            <a:avLst/>
          </a:prstGeom>
          <a:ln w="10160">
            <a:solidFill>
              <a:srgbClr val="333333"/>
            </a:solidFill>
          </a:ln>
        </p:spPr>
      </p:cxnSp>
      <p:sp>
        <p:nvSpPr>
          <p:cNvPr id="190" name="s6-card-4"/>
          <p:cNvSpPr/>
          <p:nvPr/>
        </p:nvSpPr>
        <p:spPr>
          <a:xfrm>
            <a:off x="5824728" y="11740896"/>
            <a:ext cx="1536192" cy="10424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E5A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s6-card-4-label"/>
          <p:cNvSpPr txBox="1"/>
          <p:nvPr/>
        </p:nvSpPr>
        <p:spPr>
          <a:xfrm>
            <a:off x="5916168" y="11804904"/>
            <a:ext cx="1353312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50" b="1" i="0">
                <a:solidFill>
                  <a:srgbClr val="111111"/>
                </a:solidFill>
                <a:latin typeface="Microsoft YaHei"/>
              </a:rPr>
              <a:t>4. 洪水预警与</a:t>
            </a:r>
          </a:p>
          <a:p>
            <a:pPr algn="ctr"/>
            <a:r>
              <a:rPr sz="950" b="1" i="0">
                <a:solidFill>
                  <a:srgbClr val="111111"/>
                </a:solidFill>
                <a:latin typeface="Microsoft YaHei"/>
              </a:rPr>
              <a:t>调度支持</a:t>
            </a:r>
          </a:p>
        </p:txBody>
      </p:sp>
      <p:pic>
        <p:nvPicPr>
          <p:cNvPr id="192" name="s6-card-4-icon" descr="s6_warn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080760" y="12070080"/>
            <a:ext cx="1024128" cy="530352"/>
          </a:xfrm>
          <a:prstGeom prst="rect">
            <a:avLst/>
          </a:prstGeom>
        </p:spPr>
      </p:pic>
      <p:cxnSp>
        <p:nvCxnSpPr>
          <p:cNvPr id="193" name="s6-card-4-down"/>
          <p:cNvCxnSpPr/>
          <p:nvPr/>
        </p:nvCxnSpPr>
        <p:spPr>
          <a:xfrm>
            <a:off x="6592824" y="12783312"/>
            <a:ext cx="0" cy="109728"/>
          </a:xfrm>
          <a:prstGeom prst="line">
            <a:avLst/>
          </a:prstGeom>
          <a:ln w="10160">
            <a:solidFill>
              <a:srgbClr val="333333"/>
            </a:solidFill>
          </a:ln>
        </p:spPr>
      </p:cxnSp>
      <p:sp>
        <p:nvSpPr>
          <p:cNvPr id="194" name="s6-card-5"/>
          <p:cNvSpPr/>
          <p:nvPr/>
        </p:nvSpPr>
        <p:spPr>
          <a:xfrm>
            <a:off x="7699248" y="11740896"/>
            <a:ext cx="1536192" cy="10424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E5A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s6-card-5-label"/>
          <p:cNvSpPr txBox="1"/>
          <p:nvPr/>
        </p:nvSpPr>
        <p:spPr>
          <a:xfrm>
            <a:off x="7790688" y="11804904"/>
            <a:ext cx="1353312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50" b="1" i="0">
                <a:solidFill>
                  <a:srgbClr val="111111"/>
                </a:solidFill>
                <a:latin typeface="Microsoft YaHei"/>
              </a:rPr>
              <a:t>5. 可视化分析与</a:t>
            </a:r>
          </a:p>
          <a:p>
            <a:pPr algn="ctr"/>
            <a:r>
              <a:rPr sz="950" b="1" i="0">
                <a:solidFill>
                  <a:srgbClr val="111111"/>
                </a:solidFill>
                <a:latin typeface="Microsoft YaHei"/>
              </a:rPr>
              <a:t>业务应用</a:t>
            </a:r>
          </a:p>
        </p:txBody>
      </p:sp>
      <p:pic>
        <p:nvPicPr>
          <p:cNvPr id="196" name="s6-card-5-icon" descr="s6_monitor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955279" y="12070080"/>
            <a:ext cx="1024128" cy="530352"/>
          </a:xfrm>
          <a:prstGeom prst="rect">
            <a:avLst/>
          </a:prstGeom>
        </p:spPr>
      </p:pic>
      <p:cxnSp>
        <p:nvCxnSpPr>
          <p:cNvPr id="197" name="s6-card-5-down"/>
          <p:cNvCxnSpPr/>
          <p:nvPr/>
        </p:nvCxnSpPr>
        <p:spPr>
          <a:xfrm>
            <a:off x="8467344" y="12783312"/>
            <a:ext cx="0" cy="109728"/>
          </a:xfrm>
          <a:prstGeom prst="line">
            <a:avLst/>
          </a:prstGeom>
          <a:ln w="10160">
            <a:solidFill>
              <a:srgbClr val="333333"/>
            </a:solidFill>
          </a:ln>
        </p:spPr>
      </p:cxnSp>
      <p:cxnSp>
        <p:nvCxnSpPr>
          <p:cNvPr id="198" name="s6-collector"/>
          <p:cNvCxnSpPr/>
          <p:nvPr/>
        </p:nvCxnSpPr>
        <p:spPr>
          <a:xfrm>
            <a:off x="1133856" y="12893040"/>
            <a:ext cx="7324344" cy="0"/>
          </a:xfrm>
          <a:prstGeom prst="line">
            <a:avLst/>
          </a:prstGeom>
          <a:ln w="10160">
            <a:solidFill>
              <a:srgbClr val="333333"/>
            </a:solidFill>
          </a:ln>
        </p:spPr>
      </p:cxnSp>
      <p:cxnSp>
        <p:nvCxnSpPr>
          <p:cNvPr id="199" name="s6-collector-down"/>
          <p:cNvCxnSpPr/>
          <p:nvPr/>
        </p:nvCxnSpPr>
        <p:spPr>
          <a:xfrm>
            <a:off x="4809744" y="12893040"/>
            <a:ext cx="0" cy="118872"/>
          </a:xfrm>
          <a:prstGeom prst="line">
            <a:avLst/>
          </a:prstGeom>
          <a:ln w="13970">
            <a:solidFill>
              <a:srgbClr val="111111"/>
            </a:solidFill>
            <a:tailEnd type="triangle" w="sm" len="sm"/>
          </a:ln>
        </p:spPr>
      </p:cxnSp>
      <p:sp>
        <p:nvSpPr>
          <p:cNvPr id="200" name="s6-service-box"/>
          <p:cNvSpPr/>
          <p:nvPr/>
        </p:nvSpPr>
        <p:spPr>
          <a:xfrm>
            <a:off x="1874519" y="13011912"/>
            <a:ext cx="5897880" cy="429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E5AA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1" name="s6-people-icon" descr="s6_peopl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350008" y="13066776"/>
            <a:ext cx="530352" cy="301752"/>
          </a:xfrm>
          <a:prstGeom prst="rect">
            <a:avLst/>
          </a:prstGeom>
        </p:spPr>
      </p:pic>
      <p:sp>
        <p:nvSpPr>
          <p:cNvPr id="202" name="s6-service-text"/>
          <p:cNvSpPr txBox="1"/>
          <p:nvPr/>
        </p:nvSpPr>
        <p:spPr>
          <a:xfrm>
            <a:off x="2980944" y="13112496"/>
            <a:ext cx="3840480" cy="2468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073A7A"/>
                </a:solidFill>
                <a:latin typeface="Microsoft YaHei"/>
              </a:rPr>
              <a:t>服务于流域洪水预报、预警与水资源管理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