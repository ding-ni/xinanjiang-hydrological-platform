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953237" y="204094"/>
            <a:ext cx="6271046" cy="451896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2800" b="1" i="0">
                <a:solidFill>
                  <a:srgbClr val="072A5E"/>
                </a:solidFill>
                <a:latin typeface="Microsoft YaHei"/>
              </a:rPr>
              <a:t>新安江模型业务化预报闭环</a:t>
            </a:r>
          </a:p>
        </p:txBody>
      </p:sp>
      <p:sp>
        <p:nvSpPr>
          <p:cNvPr id="4" name="p1-card"/>
          <p:cNvSpPr/>
          <p:nvPr/>
        </p:nvSpPr>
        <p:spPr>
          <a:xfrm>
            <a:off x="692749" y="874532"/>
            <a:ext cx="2362535" cy="134828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2-card"/>
          <p:cNvSpPr/>
          <p:nvPr/>
        </p:nvSpPr>
        <p:spPr>
          <a:xfrm>
            <a:off x="3871935" y="874532"/>
            <a:ext cx="2326142" cy="134828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007A7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3-card"/>
          <p:cNvSpPr/>
          <p:nvPr/>
        </p:nvSpPr>
        <p:spPr>
          <a:xfrm>
            <a:off x="7022043" y="874532"/>
            <a:ext cx="2209464" cy="134828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007A7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6-card"/>
          <p:cNvSpPr/>
          <p:nvPr/>
        </p:nvSpPr>
        <p:spPr>
          <a:xfrm>
            <a:off x="692749" y="4074017"/>
            <a:ext cx="2362535" cy="130457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B51E2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5-card"/>
          <p:cNvSpPr/>
          <p:nvPr/>
        </p:nvSpPr>
        <p:spPr>
          <a:xfrm>
            <a:off x="3886565" y="4074017"/>
            <a:ext cx="2340681" cy="130457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4-card"/>
          <p:cNvSpPr/>
          <p:nvPr/>
        </p:nvSpPr>
        <p:spPr>
          <a:xfrm>
            <a:off x="7022043" y="4074017"/>
            <a:ext cx="2209464" cy="130457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B36B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hive-card"/>
          <p:cNvSpPr/>
          <p:nvPr/>
        </p:nvSpPr>
        <p:spPr>
          <a:xfrm>
            <a:off x="3886565" y="2740273"/>
            <a:ext cx="2340681" cy="96926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860">
            <a:solidFill>
              <a:srgbClr val="072A5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dge-1-circle"/>
          <p:cNvSpPr/>
          <p:nvPr/>
        </p:nvSpPr>
        <p:spPr>
          <a:xfrm>
            <a:off x="1057320" y="1042141"/>
            <a:ext cx="328178" cy="327995"/>
          </a:xfrm>
          <a:prstGeom prst="ellipse">
            <a:avLst/>
          </a:prstGeom>
          <a:solidFill>
            <a:srgbClr val="005AA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dge-1-text"/>
          <p:cNvSpPr txBox="1"/>
          <p:nvPr/>
        </p:nvSpPr>
        <p:spPr>
          <a:xfrm>
            <a:off x="1064635" y="1049456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badge-2-circle"/>
          <p:cNvSpPr/>
          <p:nvPr/>
        </p:nvSpPr>
        <p:spPr>
          <a:xfrm>
            <a:off x="4229282" y="1042141"/>
            <a:ext cx="328178" cy="327995"/>
          </a:xfrm>
          <a:prstGeom prst="ellipse">
            <a:avLst/>
          </a:prstGeom>
          <a:solidFill>
            <a:srgbClr val="007A7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-2-text"/>
          <p:cNvSpPr txBox="1"/>
          <p:nvPr/>
        </p:nvSpPr>
        <p:spPr>
          <a:xfrm>
            <a:off x="4236598" y="1049456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badge-3-circle"/>
          <p:cNvSpPr/>
          <p:nvPr/>
        </p:nvSpPr>
        <p:spPr>
          <a:xfrm>
            <a:off x="7255398" y="1042141"/>
            <a:ext cx="328178" cy="327995"/>
          </a:xfrm>
          <a:prstGeom prst="ellipse">
            <a:avLst/>
          </a:prstGeom>
          <a:solidFill>
            <a:srgbClr val="007A7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adge-3-text"/>
          <p:cNvSpPr txBox="1"/>
          <p:nvPr/>
        </p:nvSpPr>
        <p:spPr>
          <a:xfrm>
            <a:off x="7262713" y="1049456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badge-6-circle"/>
          <p:cNvSpPr/>
          <p:nvPr/>
        </p:nvSpPr>
        <p:spPr>
          <a:xfrm>
            <a:off x="1057320" y="4226996"/>
            <a:ext cx="328178" cy="327995"/>
          </a:xfrm>
          <a:prstGeom prst="ellipse">
            <a:avLst/>
          </a:prstGeom>
          <a:solidFill>
            <a:srgbClr val="B51E2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-6-text"/>
          <p:cNvSpPr txBox="1"/>
          <p:nvPr/>
        </p:nvSpPr>
        <p:spPr>
          <a:xfrm>
            <a:off x="1064635" y="4234312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9" name="badge-5-circle"/>
          <p:cNvSpPr/>
          <p:nvPr/>
        </p:nvSpPr>
        <p:spPr>
          <a:xfrm>
            <a:off x="4214743" y="4226996"/>
            <a:ext cx="328178" cy="327995"/>
          </a:xfrm>
          <a:prstGeom prst="ellipse">
            <a:avLst/>
          </a:prstGeom>
          <a:solidFill>
            <a:srgbClr val="005AA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adge-5-text"/>
          <p:cNvSpPr txBox="1"/>
          <p:nvPr/>
        </p:nvSpPr>
        <p:spPr>
          <a:xfrm>
            <a:off x="4221967" y="4234312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badge-4-circle"/>
          <p:cNvSpPr/>
          <p:nvPr/>
        </p:nvSpPr>
        <p:spPr>
          <a:xfrm>
            <a:off x="7277252" y="4226996"/>
            <a:ext cx="328178" cy="327995"/>
          </a:xfrm>
          <a:prstGeom prst="ellipse">
            <a:avLst/>
          </a:prstGeom>
          <a:solidFill>
            <a:srgbClr val="B36B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-4-text"/>
          <p:cNvSpPr txBox="1"/>
          <p:nvPr/>
        </p:nvSpPr>
        <p:spPr>
          <a:xfrm>
            <a:off x="7284567" y="4234312"/>
            <a:ext cx="313547" cy="313364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p1-title"/>
          <p:cNvSpPr txBox="1"/>
          <p:nvPr/>
        </p:nvSpPr>
        <p:spPr>
          <a:xfrm>
            <a:off x="1487545" y="1064087"/>
            <a:ext cx="1093805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072A5E"/>
                </a:solidFill>
                <a:latin typeface="Microsoft YaHei"/>
              </a:rPr>
              <a:t>资料接入</a:t>
            </a:r>
          </a:p>
        </p:txBody>
      </p:sp>
      <p:sp>
        <p:nvSpPr>
          <p:cNvPr id="24" name="p2-title"/>
          <p:cNvSpPr txBox="1"/>
          <p:nvPr/>
        </p:nvSpPr>
        <p:spPr>
          <a:xfrm>
            <a:off x="4681362" y="1064087"/>
            <a:ext cx="1093805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006B68"/>
                </a:solidFill>
                <a:latin typeface="Microsoft YaHei"/>
              </a:rPr>
              <a:t>质量控制</a:t>
            </a:r>
          </a:p>
        </p:txBody>
      </p:sp>
      <p:sp>
        <p:nvSpPr>
          <p:cNvPr id="25" name="p3-title"/>
          <p:cNvSpPr txBox="1"/>
          <p:nvPr/>
        </p:nvSpPr>
        <p:spPr>
          <a:xfrm>
            <a:off x="7671084" y="1064087"/>
            <a:ext cx="1312529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006B68"/>
                </a:solidFill>
                <a:latin typeface="Microsoft YaHei"/>
              </a:rPr>
              <a:t>面雨量产品</a:t>
            </a:r>
          </a:p>
        </p:txBody>
      </p:sp>
      <p:sp>
        <p:nvSpPr>
          <p:cNvPr id="26" name="p6-title"/>
          <p:cNvSpPr txBox="1"/>
          <p:nvPr/>
        </p:nvSpPr>
        <p:spPr>
          <a:xfrm>
            <a:off x="1487545" y="4248942"/>
            <a:ext cx="1093805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B51E23"/>
                </a:solidFill>
                <a:latin typeface="Microsoft YaHei"/>
              </a:rPr>
              <a:t>状态继承</a:t>
            </a:r>
          </a:p>
        </p:txBody>
      </p:sp>
      <p:sp>
        <p:nvSpPr>
          <p:cNvPr id="27" name="p5-title"/>
          <p:cNvSpPr txBox="1"/>
          <p:nvPr/>
        </p:nvSpPr>
        <p:spPr>
          <a:xfrm>
            <a:off x="4652192" y="4248942"/>
            <a:ext cx="1093805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072A5E"/>
                </a:solidFill>
                <a:latin typeface="Microsoft YaHei"/>
              </a:rPr>
              <a:t>断面预报</a:t>
            </a:r>
          </a:p>
        </p:txBody>
      </p:sp>
      <p:sp>
        <p:nvSpPr>
          <p:cNvPr id="28" name="p4-title"/>
          <p:cNvSpPr txBox="1"/>
          <p:nvPr/>
        </p:nvSpPr>
        <p:spPr>
          <a:xfrm>
            <a:off x="7780446" y="4263481"/>
            <a:ext cx="1166682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800" b="1" i="0">
                <a:solidFill>
                  <a:srgbClr val="B36B00"/>
                </a:solidFill>
                <a:latin typeface="Microsoft YaHei"/>
              </a:rPr>
              <a:t>模型计算</a:t>
            </a:r>
          </a:p>
        </p:txBody>
      </p:sp>
      <p:sp>
        <p:nvSpPr>
          <p:cNvPr id="29" name="p1-body"/>
          <p:cNvSpPr txBox="1"/>
          <p:nvPr/>
        </p:nvSpPr>
        <p:spPr>
          <a:xfrm>
            <a:off x="889619" y="1486722"/>
            <a:ext cx="1895916" cy="510143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雨量站／水文站／流量站</a:t>
            </a:r>
          </a:p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预报降雨与空间资料</a:t>
            </a:r>
          </a:p>
        </p:txBody>
      </p:sp>
      <p:sp>
        <p:nvSpPr>
          <p:cNvPr id="30" name="p2-body"/>
          <p:cNvSpPr txBox="1"/>
          <p:nvPr/>
        </p:nvSpPr>
        <p:spPr>
          <a:xfrm>
            <a:off x="4156405" y="1486722"/>
            <a:ext cx="1750070" cy="510143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强度检查/缺测处理</a:t>
            </a:r>
          </a:p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面雨量与入模产品</a:t>
            </a:r>
          </a:p>
        </p:txBody>
      </p:sp>
      <p:sp>
        <p:nvSpPr>
          <p:cNvPr id="31" name="p3-body"/>
          <p:cNvSpPr txBox="1"/>
          <p:nvPr/>
        </p:nvSpPr>
        <p:spPr>
          <a:xfrm>
            <a:off x="7350221" y="1486722"/>
            <a:ext cx="1531254" cy="699607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新安江分区产汇流</a:t>
            </a:r>
          </a:p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蒸散发／蓄满产流</a:t>
            </a:r>
          </a:p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分水源／汇流传播</a:t>
            </a:r>
          </a:p>
        </p:txBody>
      </p:sp>
      <p:sp>
        <p:nvSpPr>
          <p:cNvPr id="32" name="archive-title"/>
          <p:cNvSpPr txBox="1"/>
          <p:nvPr/>
        </p:nvSpPr>
        <p:spPr>
          <a:xfrm>
            <a:off x="4462637" y="2856859"/>
            <a:ext cx="1057320" cy="313364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800" b="1" i="0">
                <a:solidFill>
                  <a:srgbClr val="072A5E"/>
                </a:solidFill>
                <a:latin typeface="Microsoft YaHei"/>
              </a:rPr>
              <a:t>运行档案</a:t>
            </a:r>
          </a:p>
        </p:txBody>
      </p:sp>
      <p:sp>
        <p:nvSpPr>
          <p:cNvPr id="33" name="archive-body"/>
          <p:cNvSpPr txBox="1"/>
          <p:nvPr/>
        </p:nvSpPr>
        <p:spPr>
          <a:xfrm>
            <a:off x="4156405" y="3192170"/>
            <a:ext cx="1691731" cy="451896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核心元数据与成果归档</a:t>
            </a:r>
          </a:p>
          <a:p>
            <a:pPr algn="ctr"/>
            <a:r>
              <a:rPr sz="1220" b="0" i="0">
                <a:solidFill>
                  <a:srgbClr val="1B2638"/>
                </a:solidFill>
                <a:latin typeface="Microsoft YaHei"/>
              </a:rPr>
              <a:t>可追溯/可复算/可审计</a:t>
            </a:r>
          </a:p>
        </p:txBody>
      </p:sp>
      <p:sp>
        <p:nvSpPr>
          <p:cNvPr id="34" name="p6-body"/>
          <p:cNvSpPr txBox="1"/>
          <p:nvPr/>
        </p:nvSpPr>
        <p:spPr>
          <a:xfrm>
            <a:off x="1093805" y="4649724"/>
            <a:ext cx="1421892" cy="641360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状态继承与更新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土壤蓄水／自由水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河道汇流状态快照</a:t>
            </a:r>
          </a:p>
        </p:txBody>
      </p:sp>
      <p:sp>
        <p:nvSpPr>
          <p:cNvPr id="35" name="p5-body"/>
          <p:cNvSpPr txBox="1"/>
          <p:nvPr/>
        </p:nvSpPr>
        <p:spPr>
          <a:xfrm>
            <a:off x="4098066" y="4649724"/>
            <a:ext cx="1822947" cy="641360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断面预报与研判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流量过程／洪峰流量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峰现时间／可信度说明</a:t>
            </a:r>
          </a:p>
        </p:txBody>
      </p:sp>
      <p:sp>
        <p:nvSpPr>
          <p:cNvPr id="36" name="p4-body"/>
          <p:cNvSpPr txBox="1"/>
          <p:nvPr/>
        </p:nvSpPr>
        <p:spPr>
          <a:xfrm>
            <a:off x="7291882" y="4649724"/>
            <a:ext cx="1677101" cy="641360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运行档案与复算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run_id/资料版本</a:t>
            </a:r>
          </a:p>
          <a:p>
            <a:pPr algn="ctr"/>
            <a:r>
              <a:rPr sz="1180" b="0" i="0">
                <a:solidFill>
                  <a:srgbClr val="1B2638"/>
                </a:solidFill>
                <a:latin typeface="Microsoft YaHei"/>
              </a:rPr>
              <a:t>参数版本／成果追踪</a:t>
            </a:r>
          </a:p>
        </p:txBody>
      </p:sp>
      <p:cxnSp>
        <p:nvCxnSpPr>
          <p:cNvPr id="37" name="arrow-p1-to-p2"/>
          <p:cNvCxnSpPr/>
          <p:nvPr/>
        </p:nvCxnSpPr>
        <p:spPr>
          <a:xfrm>
            <a:off x="3055284" y="1355598"/>
            <a:ext cx="816651" cy="0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38" name="arrow-p2-to-p3"/>
          <p:cNvCxnSpPr/>
          <p:nvPr/>
        </p:nvCxnSpPr>
        <p:spPr>
          <a:xfrm>
            <a:off x="6198077" y="1355598"/>
            <a:ext cx="823966" cy="0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39" name="arrow-p3-to-p4"/>
          <p:cNvCxnSpPr/>
          <p:nvPr/>
        </p:nvCxnSpPr>
        <p:spPr>
          <a:xfrm>
            <a:off x="8130387" y="2222814"/>
            <a:ext cx="0" cy="1851203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40" name="arrow-p4-to-p5"/>
          <p:cNvCxnSpPr/>
          <p:nvPr/>
        </p:nvCxnSpPr>
        <p:spPr>
          <a:xfrm flipH="1">
            <a:off x="6227246" y="4576846"/>
            <a:ext cx="794797" cy="0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41" name="arrow-p5-to-p6"/>
          <p:cNvCxnSpPr/>
          <p:nvPr/>
        </p:nvCxnSpPr>
        <p:spPr>
          <a:xfrm flipH="1">
            <a:off x="3055284" y="4576846"/>
            <a:ext cx="831281" cy="0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42" name="arrow-p6-to-p1"/>
          <p:cNvCxnSpPr/>
          <p:nvPr/>
        </p:nvCxnSpPr>
        <p:spPr>
          <a:xfrm flipV="1">
            <a:off x="1779239" y="2222814"/>
            <a:ext cx="0" cy="1851203"/>
          </a:xfrm>
          <a:prstGeom prst="line">
            <a:avLst/>
          </a:prstGeom>
          <a:ln w="27940">
            <a:solidFill>
              <a:srgbClr val="073763"/>
            </a:solidFill>
            <a:tailEnd type="triangle" w="med" len="med"/>
          </a:ln>
        </p:spPr>
      </p:cxnSp>
      <p:cxnSp>
        <p:nvCxnSpPr>
          <p:cNvPr id="43" name="archive-top-left-dash"/>
          <p:cNvCxnSpPr/>
          <p:nvPr/>
        </p:nvCxnSpPr>
        <p:spPr>
          <a:xfrm>
            <a:off x="4200113" y="2565349"/>
            <a:ext cx="0" cy="174924"/>
          </a:xfrm>
          <a:prstGeom prst="line">
            <a:avLst/>
          </a:prstGeom>
          <a:ln w="13970">
            <a:solidFill>
              <a:srgbClr val="073763"/>
            </a:solidFill>
            <a:prstDash val="dash"/>
            <a:tailEnd type="triangle" w="med" len="med"/>
          </a:ln>
        </p:spPr>
      </p:cxnSp>
      <p:cxnSp>
        <p:nvCxnSpPr>
          <p:cNvPr id="44" name="archive-top-mid-dash"/>
          <p:cNvCxnSpPr/>
          <p:nvPr/>
        </p:nvCxnSpPr>
        <p:spPr>
          <a:xfrm flipV="1">
            <a:off x="4965740" y="2230130"/>
            <a:ext cx="0" cy="335219"/>
          </a:xfrm>
          <a:prstGeom prst="line">
            <a:avLst/>
          </a:prstGeom>
          <a:ln w="13970">
            <a:solidFill>
              <a:srgbClr val="073763"/>
            </a:solidFill>
            <a:prstDash val="dash"/>
            <a:tailEnd type="triangle" w="med" len="med"/>
          </a:ln>
        </p:spPr>
      </p:cxnSp>
      <p:cxnSp>
        <p:nvCxnSpPr>
          <p:cNvPr id="45" name="archive-top-right-dash"/>
          <p:cNvCxnSpPr/>
          <p:nvPr/>
        </p:nvCxnSpPr>
        <p:spPr>
          <a:xfrm>
            <a:off x="5928329" y="2565349"/>
            <a:ext cx="0" cy="174924"/>
          </a:xfrm>
          <a:prstGeom prst="line">
            <a:avLst/>
          </a:prstGeom>
          <a:ln w="13970">
            <a:solidFill>
              <a:srgbClr val="073763"/>
            </a:solidFill>
            <a:prstDash val="dash"/>
            <a:tailEnd type="triangle" w="med" len="med"/>
          </a:ln>
        </p:spPr>
      </p:cxnSp>
      <p:cxnSp>
        <p:nvCxnSpPr>
          <p:cNvPr id="46" name="archive-top-h-dash"/>
          <p:cNvCxnSpPr/>
          <p:nvPr/>
        </p:nvCxnSpPr>
        <p:spPr>
          <a:xfrm>
            <a:off x="4200113" y="2565349"/>
            <a:ext cx="1728216" cy="0"/>
          </a:xfrm>
          <a:prstGeom prst="line">
            <a:avLst/>
          </a:prstGeom>
          <a:ln w="13970">
            <a:solidFill>
              <a:srgbClr val="073763"/>
            </a:solidFill>
            <a:prstDash val="dash"/>
          </a:ln>
        </p:spPr>
      </p:cxnSp>
      <p:cxnSp>
        <p:nvCxnSpPr>
          <p:cNvPr id="47" name="archive-bottom-left-dash"/>
          <p:cNvCxnSpPr/>
          <p:nvPr/>
        </p:nvCxnSpPr>
        <p:spPr>
          <a:xfrm>
            <a:off x="4200113" y="3716853"/>
            <a:ext cx="0" cy="189555"/>
          </a:xfrm>
          <a:prstGeom prst="line">
            <a:avLst/>
          </a:prstGeom>
          <a:ln w="13970">
            <a:solidFill>
              <a:srgbClr val="073763"/>
            </a:solidFill>
            <a:prstDash val="dash"/>
            <a:headEnd type="triangle" w="med" len="med"/>
          </a:ln>
        </p:spPr>
      </p:cxnSp>
      <p:cxnSp>
        <p:nvCxnSpPr>
          <p:cNvPr id="48" name="archive-bottom-mid-dash"/>
          <p:cNvCxnSpPr/>
          <p:nvPr/>
        </p:nvCxnSpPr>
        <p:spPr>
          <a:xfrm>
            <a:off x="4965740" y="3716853"/>
            <a:ext cx="0" cy="357164"/>
          </a:xfrm>
          <a:prstGeom prst="line">
            <a:avLst/>
          </a:prstGeom>
          <a:ln w="13970">
            <a:solidFill>
              <a:srgbClr val="073763"/>
            </a:solidFill>
            <a:prstDash val="dash"/>
            <a:tailEnd type="triangle" w="med" len="med"/>
          </a:ln>
        </p:spPr>
      </p:cxnSp>
      <p:cxnSp>
        <p:nvCxnSpPr>
          <p:cNvPr id="49" name="archive-bottom-right-dash"/>
          <p:cNvCxnSpPr/>
          <p:nvPr/>
        </p:nvCxnSpPr>
        <p:spPr>
          <a:xfrm>
            <a:off x="5928329" y="3716853"/>
            <a:ext cx="0" cy="189555"/>
          </a:xfrm>
          <a:prstGeom prst="line">
            <a:avLst/>
          </a:prstGeom>
          <a:ln w="13970">
            <a:solidFill>
              <a:srgbClr val="073763"/>
            </a:solidFill>
            <a:prstDash val="dash"/>
            <a:headEnd type="triangle" w="med" len="med"/>
          </a:ln>
        </p:spPr>
      </p:cxnSp>
      <p:cxnSp>
        <p:nvCxnSpPr>
          <p:cNvPr id="50" name="archive-bottom-h-dash"/>
          <p:cNvCxnSpPr/>
          <p:nvPr/>
        </p:nvCxnSpPr>
        <p:spPr>
          <a:xfrm>
            <a:off x="4200113" y="3906408"/>
            <a:ext cx="1728216" cy="0"/>
          </a:xfrm>
          <a:prstGeom prst="line">
            <a:avLst/>
          </a:prstGeom>
          <a:ln w="13970">
            <a:solidFill>
              <a:srgbClr val="073763"/>
            </a:solidFill>
            <a:prstDash val="dash"/>
          </a:ln>
        </p:spPr>
      </p:cxnSp>
      <p:sp>
        <p:nvSpPr>
          <p:cNvPr id="51" name="boundary-panel"/>
          <p:cNvSpPr/>
          <p:nvPr/>
        </p:nvSpPr>
        <p:spPr>
          <a:xfrm>
            <a:off x="9698217" y="823508"/>
            <a:ext cx="2085472" cy="46497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FA7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undary-title"/>
          <p:cNvSpPr txBox="1"/>
          <p:nvPr/>
        </p:nvSpPr>
        <p:spPr>
          <a:xfrm>
            <a:off x="10296144" y="969264"/>
            <a:ext cx="845820" cy="291510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600" b="1" i="0">
                <a:solidFill>
                  <a:srgbClr val="0D2A5A"/>
                </a:solidFill>
                <a:latin typeface="Microsoft YaHei"/>
              </a:rPr>
              <a:t>一期边界</a:t>
            </a:r>
          </a:p>
        </p:txBody>
      </p:sp>
      <p:sp>
        <p:nvSpPr>
          <p:cNvPr id="53" name="side-index-1-box"/>
          <p:cNvSpPr/>
          <p:nvPr/>
        </p:nvSpPr>
        <p:spPr>
          <a:xfrm>
            <a:off x="9843973" y="1443014"/>
            <a:ext cx="306232" cy="28419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0160">
            <a:solidFill>
              <a:srgbClr val="9CC0E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ide-index-1-text"/>
          <p:cNvSpPr txBox="1"/>
          <p:nvPr/>
        </p:nvSpPr>
        <p:spPr>
          <a:xfrm>
            <a:off x="9858603" y="1457553"/>
            <a:ext cx="277063" cy="255117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50" b="1" i="0">
                <a:solidFill>
                  <a:srgbClr val="005AAE"/>
                </a:solidFill>
                <a:latin typeface="Microsoft YaHei"/>
              </a:rPr>
              <a:t>1</a:t>
            </a:r>
          </a:p>
        </p:txBody>
      </p:sp>
      <p:sp>
        <p:nvSpPr>
          <p:cNvPr id="55" name="side-heading-1"/>
          <p:cNvSpPr txBox="1"/>
          <p:nvPr/>
        </p:nvSpPr>
        <p:spPr>
          <a:xfrm>
            <a:off x="10266974" y="1457553"/>
            <a:ext cx="947958" cy="225948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320" b="1" i="0">
                <a:solidFill>
                  <a:srgbClr val="0D2A5A"/>
                </a:solidFill>
                <a:latin typeface="Microsoft YaHei"/>
              </a:rPr>
              <a:t>试点流域</a:t>
            </a:r>
          </a:p>
        </p:txBody>
      </p:sp>
      <p:sp>
        <p:nvSpPr>
          <p:cNvPr id="56" name="side-body-1"/>
          <p:cNvSpPr txBox="1"/>
          <p:nvPr/>
        </p:nvSpPr>
        <p:spPr>
          <a:xfrm>
            <a:off x="10252344" y="1719986"/>
            <a:ext cx="1567738" cy="400872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一个浙江试点流域</a:t>
            </a:r>
          </a:p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1-2个控制断面</a:t>
            </a:r>
          </a:p>
        </p:txBody>
      </p:sp>
      <p:sp>
        <p:nvSpPr>
          <p:cNvPr id="57" name="side-index-2-box"/>
          <p:cNvSpPr/>
          <p:nvPr/>
        </p:nvSpPr>
        <p:spPr>
          <a:xfrm>
            <a:off x="9843973" y="2507101"/>
            <a:ext cx="306232" cy="28419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0160">
            <a:solidFill>
              <a:srgbClr val="9CC0E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side-index-2-text"/>
          <p:cNvSpPr txBox="1"/>
          <p:nvPr/>
        </p:nvSpPr>
        <p:spPr>
          <a:xfrm>
            <a:off x="9858603" y="2521640"/>
            <a:ext cx="277063" cy="255117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50" b="1" i="0">
                <a:solidFill>
                  <a:srgbClr val="005AAE"/>
                </a:solidFill>
                <a:latin typeface="Microsoft YaHei"/>
              </a:rPr>
              <a:t>2</a:t>
            </a:r>
          </a:p>
        </p:txBody>
      </p:sp>
      <p:sp>
        <p:nvSpPr>
          <p:cNvPr id="59" name="side-heading-2"/>
          <p:cNvSpPr txBox="1"/>
          <p:nvPr/>
        </p:nvSpPr>
        <p:spPr>
          <a:xfrm>
            <a:off x="10266974" y="2521640"/>
            <a:ext cx="947958" cy="225948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320" b="1" i="0">
                <a:solidFill>
                  <a:srgbClr val="0D2A5A"/>
                </a:solidFill>
                <a:latin typeface="Microsoft YaHei"/>
              </a:rPr>
              <a:t>控制断面</a:t>
            </a:r>
          </a:p>
        </p:txBody>
      </p:sp>
      <p:sp>
        <p:nvSpPr>
          <p:cNvPr id="60" name="side-body-2"/>
          <p:cNvSpPr txBox="1"/>
          <p:nvPr/>
        </p:nvSpPr>
        <p:spPr>
          <a:xfrm>
            <a:off x="10252344" y="2783982"/>
            <a:ext cx="1567738" cy="400872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站网实测资料</a:t>
            </a:r>
          </a:p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历史洪水、基础空间资料</a:t>
            </a:r>
          </a:p>
        </p:txBody>
      </p:sp>
      <p:sp>
        <p:nvSpPr>
          <p:cNvPr id="61" name="side-index-3-box"/>
          <p:cNvSpPr/>
          <p:nvPr/>
        </p:nvSpPr>
        <p:spPr>
          <a:xfrm>
            <a:off x="9843973" y="3563782"/>
            <a:ext cx="306232" cy="28419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0160">
            <a:solidFill>
              <a:srgbClr val="9CC0E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side-index-3-text"/>
          <p:cNvSpPr txBox="1"/>
          <p:nvPr/>
        </p:nvSpPr>
        <p:spPr>
          <a:xfrm>
            <a:off x="9858603" y="3578412"/>
            <a:ext cx="277063" cy="255117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50" b="1" i="0">
                <a:solidFill>
                  <a:srgbClr val="005AAE"/>
                </a:solidFill>
                <a:latin typeface="Microsoft YaHei"/>
              </a:rPr>
              <a:t>3</a:t>
            </a:r>
          </a:p>
        </p:txBody>
      </p:sp>
      <p:sp>
        <p:nvSpPr>
          <p:cNvPr id="63" name="side-heading-3"/>
          <p:cNvSpPr txBox="1"/>
          <p:nvPr/>
        </p:nvSpPr>
        <p:spPr>
          <a:xfrm>
            <a:off x="10266974" y="3578412"/>
            <a:ext cx="947958" cy="225948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320" b="1" i="0">
                <a:solidFill>
                  <a:srgbClr val="0D2A5A"/>
                </a:solidFill>
                <a:latin typeface="Microsoft YaHei"/>
              </a:rPr>
              <a:t>历史洪水</a:t>
            </a:r>
          </a:p>
        </p:txBody>
      </p:sp>
      <p:sp>
        <p:nvSpPr>
          <p:cNvPr id="64" name="side-body-3"/>
          <p:cNvSpPr txBox="1"/>
          <p:nvPr/>
        </p:nvSpPr>
        <p:spPr>
          <a:xfrm>
            <a:off x="10252344" y="3840754"/>
            <a:ext cx="1567738" cy="400872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历史洪水过程</a:t>
            </a:r>
          </a:p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典型事件样本库</a:t>
            </a:r>
          </a:p>
        </p:txBody>
      </p:sp>
      <p:sp>
        <p:nvSpPr>
          <p:cNvPr id="65" name="side-index-4-box"/>
          <p:cNvSpPr/>
          <p:nvPr/>
        </p:nvSpPr>
        <p:spPr>
          <a:xfrm>
            <a:off x="9843973" y="4627869"/>
            <a:ext cx="306232" cy="284195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0160">
            <a:solidFill>
              <a:srgbClr val="9CC0E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side-index-4-text"/>
          <p:cNvSpPr txBox="1"/>
          <p:nvPr/>
        </p:nvSpPr>
        <p:spPr>
          <a:xfrm>
            <a:off x="9858603" y="4642408"/>
            <a:ext cx="277063" cy="255117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50" b="1" i="0">
                <a:solidFill>
                  <a:srgbClr val="005AAE"/>
                </a:solidFill>
                <a:latin typeface="Microsoft YaHei"/>
              </a:rPr>
              <a:t>4</a:t>
            </a:r>
          </a:p>
        </p:txBody>
      </p:sp>
      <p:sp>
        <p:nvSpPr>
          <p:cNvPr id="67" name="side-heading-4"/>
          <p:cNvSpPr txBox="1"/>
          <p:nvPr/>
        </p:nvSpPr>
        <p:spPr>
          <a:xfrm>
            <a:off x="10266974" y="4642408"/>
            <a:ext cx="947958" cy="225948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320" b="1" i="0">
                <a:solidFill>
                  <a:srgbClr val="0D2A5A"/>
                </a:solidFill>
                <a:latin typeface="Microsoft YaHei"/>
              </a:rPr>
              <a:t>实时预报</a:t>
            </a:r>
          </a:p>
        </p:txBody>
      </p:sp>
      <p:sp>
        <p:nvSpPr>
          <p:cNvPr id="68" name="side-body-4"/>
          <p:cNvSpPr txBox="1"/>
          <p:nvPr/>
        </p:nvSpPr>
        <p:spPr>
          <a:xfrm>
            <a:off x="10252344" y="4904841"/>
            <a:ext cx="1567738" cy="400872"/>
          </a:xfrm>
          <a:prstGeom prst="rect">
            <a:avLst/>
          </a:prstGeom>
          <a:noFill/>
        </p:spPr>
        <p:txBody>
          <a:bodyPr wrap="none" lIns="9144" tIns="9144" rIns="9144" bIns="9144">
            <a:noAutofit/>
          </a:bodyPr>
          <a:lstStyle/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业务化实时预报</a:t>
            </a:r>
          </a:p>
          <a:p>
            <a:pPr algn="l"/>
            <a:r>
              <a:rPr sz="1019" b="0" i="0">
                <a:solidFill>
                  <a:srgbClr val="2A3852"/>
                </a:solidFill>
                <a:latin typeface="Microsoft YaHei"/>
              </a:rPr>
              <a:t>结果发布与共享</a:t>
            </a:r>
          </a:p>
        </p:txBody>
      </p:sp>
      <p:cxnSp>
        <p:nvCxnSpPr>
          <p:cNvPr id="69" name="side-sep-1"/>
          <p:cNvCxnSpPr/>
          <p:nvPr/>
        </p:nvCxnSpPr>
        <p:spPr>
          <a:xfrm>
            <a:off x="9843973" y="2295692"/>
            <a:ext cx="1823039" cy="0"/>
          </a:xfrm>
          <a:prstGeom prst="line">
            <a:avLst/>
          </a:prstGeom>
          <a:ln w="10160">
            <a:solidFill>
              <a:srgbClr val="A7BEDA"/>
            </a:solidFill>
            <a:prstDash val="dash"/>
          </a:ln>
        </p:spPr>
      </p:cxnSp>
      <p:cxnSp>
        <p:nvCxnSpPr>
          <p:cNvPr id="70" name="side-sep-2"/>
          <p:cNvCxnSpPr/>
          <p:nvPr/>
        </p:nvCxnSpPr>
        <p:spPr>
          <a:xfrm>
            <a:off x="9843973" y="3374318"/>
            <a:ext cx="1823039" cy="0"/>
          </a:xfrm>
          <a:prstGeom prst="line">
            <a:avLst/>
          </a:prstGeom>
          <a:ln w="10160">
            <a:solidFill>
              <a:srgbClr val="A7BEDA"/>
            </a:solidFill>
            <a:prstDash val="dash"/>
          </a:ln>
        </p:spPr>
      </p:cxnSp>
      <p:cxnSp>
        <p:nvCxnSpPr>
          <p:cNvPr id="71" name="side-sep-3"/>
          <p:cNvCxnSpPr/>
          <p:nvPr/>
        </p:nvCxnSpPr>
        <p:spPr>
          <a:xfrm>
            <a:off x="9843973" y="4452945"/>
            <a:ext cx="1823039" cy="0"/>
          </a:xfrm>
          <a:prstGeom prst="line">
            <a:avLst/>
          </a:prstGeom>
          <a:ln w="10160">
            <a:solidFill>
              <a:srgbClr val="A7BEDA"/>
            </a:solidFill>
            <a:prstDash val="dash"/>
          </a:ln>
        </p:spPr>
      </p:cxnSp>
      <p:sp>
        <p:nvSpPr>
          <p:cNvPr id="72" name="future-container"/>
          <p:cNvSpPr/>
          <p:nvPr/>
        </p:nvSpPr>
        <p:spPr>
          <a:xfrm>
            <a:off x="488563" y="5713811"/>
            <a:ext cx="11222156" cy="852678"/>
          </a:xfrm>
          <a:prstGeom prst="roundRect">
            <a:avLst>
              <a:gd name="adj" fmla="val 8000"/>
            </a:avLst>
          </a:prstGeom>
          <a:noFill/>
          <a:ln w="13970">
            <a:solidFill>
              <a:srgbClr val="072A5E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future-label"/>
          <p:cNvSpPr/>
          <p:nvPr/>
        </p:nvSpPr>
        <p:spPr>
          <a:xfrm>
            <a:off x="700064" y="5903274"/>
            <a:ext cx="1261506" cy="480974"/>
          </a:xfrm>
          <a:prstGeom prst="roundRect">
            <a:avLst>
              <a:gd name="adj" fmla="val 8000"/>
            </a:avLst>
          </a:prstGeom>
          <a:solidFill>
            <a:srgbClr val="072A5E"/>
          </a:solidFill>
          <a:ln w="12700">
            <a:solidFill>
              <a:srgbClr val="072A5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future-label-text"/>
          <p:cNvSpPr txBox="1"/>
          <p:nvPr/>
        </p:nvSpPr>
        <p:spPr>
          <a:xfrm>
            <a:off x="816650" y="5976152"/>
            <a:ext cx="1035466" cy="306141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750" b="1" i="0">
                <a:solidFill>
                  <a:srgbClr val="FFFFFF"/>
                </a:solidFill>
                <a:latin typeface="Microsoft YaHei"/>
              </a:rPr>
              <a:t>后续扩展</a:t>
            </a:r>
          </a:p>
        </p:txBody>
      </p:sp>
      <p:sp>
        <p:nvSpPr>
          <p:cNvPr id="75" name="future-auto-calibration"/>
          <p:cNvSpPr/>
          <p:nvPr/>
        </p:nvSpPr>
        <p:spPr>
          <a:xfrm>
            <a:off x="2202149" y="5903274"/>
            <a:ext cx="1852117" cy="480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uture-auto-calibration-text"/>
          <p:cNvSpPr txBox="1"/>
          <p:nvPr/>
        </p:nvSpPr>
        <p:spPr>
          <a:xfrm>
            <a:off x="2202149" y="6012637"/>
            <a:ext cx="1852117" cy="262341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20" b="1" i="0">
                <a:solidFill>
                  <a:srgbClr val="0D2A5A"/>
                </a:solidFill>
                <a:latin typeface="Microsoft YaHei"/>
              </a:rPr>
              <a:t>自动率定</a:t>
            </a:r>
          </a:p>
        </p:txBody>
      </p:sp>
      <p:sp>
        <p:nvSpPr>
          <p:cNvPr id="77" name="future-data-assimilation"/>
          <p:cNvSpPr/>
          <p:nvPr/>
        </p:nvSpPr>
        <p:spPr>
          <a:xfrm>
            <a:off x="4345960" y="5903274"/>
            <a:ext cx="1925086" cy="480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uture-data-assimilation-text"/>
          <p:cNvSpPr txBox="1"/>
          <p:nvPr/>
        </p:nvSpPr>
        <p:spPr>
          <a:xfrm>
            <a:off x="4345960" y="6012637"/>
            <a:ext cx="1925086" cy="262341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20" b="1" i="0">
                <a:solidFill>
                  <a:srgbClr val="0D2A5A"/>
                </a:solidFill>
                <a:latin typeface="Microsoft YaHei"/>
              </a:rPr>
              <a:t>资料同化</a:t>
            </a:r>
          </a:p>
        </p:txBody>
      </p:sp>
      <p:sp>
        <p:nvSpPr>
          <p:cNvPr id="79" name="future-snowmelt"/>
          <p:cNvSpPr/>
          <p:nvPr/>
        </p:nvSpPr>
        <p:spPr>
          <a:xfrm>
            <a:off x="6562648" y="5903274"/>
            <a:ext cx="1808408" cy="480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future-snowmelt-text"/>
          <p:cNvSpPr txBox="1"/>
          <p:nvPr/>
        </p:nvSpPr>
        <p:spPr>
          <a:xfrm>
            <a:off x="6562648" y="6012637"/>
            <a:ext cx="1808408" cy="262341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20" b="1" i="0">
                <a:solidFill>
                  <a:srgbClr val="0D2A5A"/>
                </a:solidFill>
                <a:latin typeface="Microsoft YaHei"/>
              </a:rPr>
              <a:t>积雪融雪</a:t>
            </a:r>
          </a:p>
        </p:txBody>
      </p:sp>
      <p:sp>
        <p:nvSpPr>
          <p:cNvPr id="81" name="future-frozen-soil"/>
          <p:cNvSpPr/>
          <p:nvPr/>
        </p:nvSpPr>
        <p:spPr>
          <a:xfrm>
            <a:off x="8618951" y="5903274"/>
            <a:ext cx="1699046" cy="4809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5AA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uture-frozen-soil-text"/>
          <p:cNvSpPr txBox="1"/>
          <p:nvPr/>
        </p:nvSpPr>
        <p:spPr>
          <a:xfrm>
            <a:off x="8618951" y="6012637"/>
            <a:ext cx="1699046" cy="262341"/>
          </a:xfrm>
          <a:prstGeom prst="rect">
            <a:avLst/>
          </a:prstGeom>
          <a:noFill/>
        </p:spPr>
        <p:txBody>
          <a:bodyPr wrap="none" lIns="9144" tIns="9144" rIns="9144" bIns="9144" anchor="ctr">
            <a:noAutofit/>
          </a:bodyPr>
          <a:lstStyle/>
          <a:p>
            <a:pPr algn="ctr"/>
            <a:r>
              <a:rPr sz="1420" b="1" i="0">
                <a:solidFill>
                  <a:srgbClr val="0D2A5A"/>
                </a:solidFill>
                <a:latin typeface="Microsoft YaHei"/>
              </a:rPr>
              <a:t>冻土修正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</Words>
  <Application>Microsoft Office PowerPoint</Application>
  <PresentationFormat>宽屏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DingKunqi</cp:lastModifiedBy>
  <cp:revision>2</cp:revision>
  <dcterms:created xsi:type="dcterms:W3CDTF">2013-01-27T09:14:16Z</dcterms:created>
  <dcterms:modified xsi:type="dcterms:W3CDTF">2026-07-07T16:28:09Z</dcterms:modified>
  <cp:category/>
</cp:coreProperties>
</file>